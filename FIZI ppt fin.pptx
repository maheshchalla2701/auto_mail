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4" autoAdjust="0"/>
    <p:restoredTop sz="94660"/>
  </p:normalViewPr>
  <p:slideViewPr>
    <p:cSldViewPr snapToGrid="0">
      <p:cViewPr varScale="1">
        <p:scale>
          <a:sx n="96" d="100"/>
          <a:sy n="96" d="100"/>
        </p:scale>
        <p:origin x="34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1121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152" y="0"/>
            <a:ext cx="12191696" cy="6858000"/>
          </a:xfrm>
          <a:prstGeom prst="rect">
            <a:avLst/>
          </a:prstGeom>
          <a:solidFill>
            <a:srgbClr val="2D3133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xt 1"/>
          <p:cNvSpPr txBox="1"/>
          <p:nvPr/>
        </p:nvSpPr>
        <p:spPr>
          <a:xfrm>
            <a:off x="585669" y="4569035"/>
            <a:ext cx="6296862" cy="1034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33000"/>
              </a:lnSpc>
              <a:spcBef>
                <a:spcPts val="1600"/>
              </a:spcBef>
              <a:defRPr sz="1400" b="1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rPr dirty="0"/>
              <a:t>Pocket AI coaching today. </a:t>
            </a:r>
          </a:p>
          <a:p>
            <a:pPr algn="ctr">
              <a:lnSpc>
                <a:spcPct val="133000"/>
              </a:lnSpc>
              <a:spcBef>
                <a:spcPts val="1600"/>
              </a:spcBef>
              <a:defRPr sz="1400" b="1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defRPr>
            </a:pPr>
            <a:r>
              <a:rPr dirty="0"/>
              <a:t>The largest aggregated gym network tomorrow.</a:t>
            </a:r>
          </a:p>
          <a:p>
            <a:pPr algn="ctr"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rPr dirty="0"/>
              <a:t>AI Form Coach &amp; Decentralized Gym Network</a:t>
            </a:r>
          </a:p>
        </p:txBody>
      </p:sp>
      <p:pic>
        <p:nvPicPr>
          <p:cNvPr id="3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386" y="1123329"/>
            <a:ext cx="3929038" cy="26193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Text 0"/>
          <p:cNvSpPr txBox="1"/>
          <p:nvPr/>
        </p:nvSpPr>
        <p:spPr>
          <a:xfrm>
            <a:off x="5233359" y="640754"/>
            <a:ext cx="453044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7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The Fitness Trilemma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5233359" y="1514871"/>
            <a:ext cx="433077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1400" i="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Three systemic failures that FIZI solves simultaneously</a:t>
            </a:r>
          </a:p>
        </p:txBody>
      </p:sp>
      <p:sp>
        <p:nvSpPr>
          <p:cNvPr id="36" name="Shape 2"/>
          <p:cNvSpPr/>
          <p:nvPr/>
        </p:nvSpPr>
        <p:spPr>
          <a:xfrm>
            <a:off x="5233360" y="2029916"/>
            <a:ext cx="3053877" cy="2600425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37" name="Text 3"/>
          <p:cNvSpPr txBox="1"/>
          <p:nvPr/>
        </p:nvSpPr>
        <p:spPr>
          <a:xfrm>
            <a:off x="5422367" y="2218927"/>
            <a:ext cx="195648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💸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Prohibitive Cost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5422367" y="2633959"/>
            <a:ext cx="2675864" cy="1209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Personal training costs Rs.3,000–8,000 per session — locking out 65% of gym-goers from expert guidance.</a:t>
            </a:r>
          </a:p>
        </p:txBody>
      </p:sp>
      <p:sp>
        <p:nvSpPr>
          <p:cNvPr id="39" name="Shape 5"/>
          <p:cNvSpPr/>
          <p:nvPr/>
        </p:nvSpPr>
        <p:spPr>
          <a:xfrm>
            <a:off x="8476243" y="2029916"/>
            <a:ext cx="3053977" cy="2600425"/>
          </a:xfrm>
          <a:prstGeom prst="roundRect">
            <a:avLst>
              <a:gd name="adj" fmla="val 1090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Text 6"/>
          <p:cNvSpPr txBox="1"/>
          <p:nvPr/>
        </p:nvSpPr>
        <p:spPr>
          <a:xfrm>
            <a:off x="8665250" y="2218927"/>
            <a:ext cx="2675963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defTabSz="822959">
              <a:lnSpc>
                <a:spcPct val="104000"/>
              </a:lnSpc>
              <a:defRPr sz="1619"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🩹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Injury &amp; Plateau Epidemic</a:t>
            </a:r>
          </a:p>
        </p:txBody>
      </p:sp>
      <p:sp>
        <p:nvSpPr>
          <p:cNvPr id="41" name="Text 7"/>
          <p:cNvSpPr txBox="1"/>
          <p:nvPr/>
        </p:nvSpPr>
        <p:spPr>
          <a:xfrm>
            <a:off x="8665250" y="2929234"/>
            <a:ext cx="2675963" cy="1512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67% of fitness app users abandon within 90 days — due to injury, plateau, or boredom from uncorrected bad form.</a:t>
            </a:r>
          </a:p>
        </p:txBody>
      </p:sp>
      <p:sp>
        <p:nvSpPr>
          <p:cNvPr id="42" name="Shape 8"/>
          <p:cNvSpPr/>
          <p:nvPr/>
        </p:nvSpPr>
        <p:spPr>
          <a:xfrm>
            <a:off x="5233360" y="4819351"/>
            <a:ext cx="6296860" cy="1397894"/>
          </a:xfrm>
          <a:prstGeom prst="roundRect">
            <a:avLst>
              <a:gd name="adj" fmla="val 2028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Text 9"/>
          <p:cNvSpPr txBox="1"/>
          <p:nvPr/>
        </p:nvSpPr>
        <p:spPr>
          <a:xfrm>
            <a:off x="5422367" y="5008364"/>
            <a:ext cx="331558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🏚️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Fragmented Gym Ecosystem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5422367" y="5423396"/>
            <a:ext cx="5918847" cy="604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Thousands of private neighbourhood gyms run at 90% vacancy with zero digital booking or marketing tools.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CB80BF1-338C-8CF6-A334-A92ECB3D6BA1}"/>
              </a:ext>
            </a:extLst>
          </p:cNvPr>
          <p:cNvSpPr/>
          <p:nvPr/>
        </p:nvSpPr>
        <p:spPr>
          <a:xfrm>
            <a:off x="661475" y="538956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Problem in Numbers</a:t>
            </a:r>
            <a:endParaRPr lang="en-US" sz="25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620415-5F31-64CA-7458-C902E39DA66B}"/>
              </a:ext>
            </a:extLst>
          </p:cNvPr>
          <p:cNvSpPr/>
          <p:nvPr/>
        </p:nvSpPr>
        <p:spPr>
          <a:xfrm>
            <a:off x="661475" y="1123553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scale of the opportunity hiding in plain sight</a:t>
            </a:r>
            <a:endParaRPr lang="en-US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4D9B2A0-ED29-5533-A333-A1A1ED6E0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46" y="1499989"/>
            <a:ext cx="4718428" cy="4718546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6930F1B-233F-C8BD-6425-AE8F4B544F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2142" y="1757163"/>
            <a:ext cx="3598078" cy="940991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794D6726-C5AC-B639-F371-3BE22AAE19ED}"/>
              </a:ext>
            </a:extLst>
          </p:cNvPr>
          <p:cNvSpPr/>
          <p:nvPr/>
        </p:nvSpPr>
        <p:spPr>
          <a:xfrm>
            <a:off x="8157264" y="1906092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65% Locked Out</a:t>
            </a:r>
            <a:endParaRPr lang="en-US" sz="12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6183D4F2-101D-C142-02F9-1A3FD1ACB887}"/>
              </a:ext>
            </a:extLst>
          </p:cNvPr>
          <p:cNvSpPr/>
          <p:nvPr/>
        </p:nvSpPr>
        <p:spPr>
          <a:xfrm>
            <a:off x="8157264" y="2198391"/>
            <a:ext cx="3224033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Gym-goers priced out of expert form guidance due to Rs.3,000–8,000/session personal training costs.</a:t>
            </a:r>
            <a:endParaRPr lang="en-US" sz="110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F7612A56-356E-0379-D55E-FCF03F7FB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2142" y="3000375"/>
            <a:ext cx="3598078" cy="1116409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9654199B-492D-2CC1-2CCE-1F97C2FEEB22}"/>
              </a:ext>
            </a:extLst>
          </p:cNvPr>
          <p:cNvSpPr/>
          <p:nvPr/>
        </p:nvSpPr>
        <p:spPr>
          <a:xfrm>
            <a:off x="8157264" y="3149303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67% Churn Rate</a:t>
            </a:r>
            <a:endParaRPr lang="en-US" sz="12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7055F9B-F578-87E4-1DDC-620AB1508A06}"/>
              </a:ext>
            </a:extLst>
          </p:cNvPr>
          <p:cNvSpPr/>
          <p:nvPr/>
        </p:nvSpPr>
        <p:spPr>
          <a:xfrm>
            <a:off x="8157264" y="3441601"/>
            <a:ext cx="3224033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Fitness app abandonment within 90 days — injury, plateau, and boredom from uncorrected biomechanics.</a:t>
            </a:r>
            <a:endParaRPr lang="en-US" sz="110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C3E2E107-B5C9-6926-56DA-89559D028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492" y="4419005"/>
            <a:ext cx="3598078" cy="1116409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F98E774E-5898-52FF-AAF4-720D3C501E1B}"/>
              </a:ext>
            </a:extLst>
          </p:cNvPr>
          <p:cNvSpPr/>
          <p:nvPr/>
        </p:nvSpPr>
        <p:spPr>
          <a:xfrm>
            <a:off x="8163614" y="4567932"/>
            <a:ext cx="3224033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 Vacancy</a:t>
            </a:r>
            <a:endParaRPr lang="en-US" sz="12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32FB6042-9076-9B04-D9A9-3691DC54CBA5}"/>
              </a:ext>
            </a:extLst>
          </p:cNvPr>
          <p:cNvSpPr/>
          <p:nvPr/>
        </p:nvSpPr>
        <p:spPr>
          <a:xfrm>
            <a:off x="8163614" y="4860230"/>
            <a:ext cx="3224033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Neighbourhood gyms lose revenue to empty benches every single day — no digital tools, no discovery.</a:t>
            </a:r>
            <a:endParaRPr lang="en-US" sz="11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 txBox="1"/>
          <p:nvPr/>
        </p:nvSpPr>
        <p:spPr>
          <a:xfrm>
            <a:off x="661474" y="753566"/>
            <a:ext cx="5490135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0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AI Computer Vision Form Coach</a:t>
            </a:r>
          </a:p>
        </p:txBody>
      </p:sp>
      <p:sp>
        <p:nvSpPr>
          <p:cNvPr id="60" name="Text 1"/>
          <p:cNvSpPr txBox="1"/>
          <p:nvPr/>
        </p:nvSpPr>
        <p:spPr>
          <a:xfrm>
            <a:off x="661474" y="1483023"/>
            <a:ext cx="56488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1000"/>
              </a:lnSpc>
              <a:defRPr sz="1200" i="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Turns any smartphone into an elite personal trainer — zero extra hardware required</a:t>
            </a:r>
          </a:p>
        </p:txBody>
      </p:sp>
      <p:pic>
        <p:nvPicPr>
          <p:cNvPr id="6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4" y="2007492"/>
            <a:ext cx="5393497" cy="360045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Shape 2"/>
          <p:cNvSpPr/>
          <p:nvPr/>
        </p:nvSpPr>
        <p:spPr>
          <a:xfrm>
            <a:off x="7751071" y="1986259"/>
            <a:ext cx="345472" cy="34548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" name="Text 3"/>
          <p:cNvSpPr txBox="1"/>
          <p:nvPr/>
        </p:nvSpPr>
        <p:spPr>
          <a:xfrm>
            <a:off x="7853890" y="2019300"/>
            <a:ext cx="13983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1</a:t>
            </a:r>
          </a:p>
        </p:txBody>
      </p:sp>
      <p:sp>
        <p:nvSpPr>
          <p:cNvPr id="64" name="Text 4"/>
          <p:cNvSpPr txBox="1"/>
          <p:nvPr/>
        </p:nvSpPr>
        <p:spPr>
          <a:xfrm>
            <a:off x="8221257" y="2039044"/>
            <a:ext cx="200337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Zero Hardware Needed</a:t>
            </a:r>
          </a:p>
        </p:txBody>
      </p:sp>
      <p:sp>
        <p:nvSpPr>
          <p:cNvPr id="65" name="Text 5"/>
          <p:cNvSpPr txBox="1"/>
          <p:nvPr/>
        </p:nvSpPr>
        <p:spPr>
          <a:xfrm>
            <a:off x="8221257" y="2403672"/>
            <a:ext cx="3315213" cy="715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21000"/>
              </a:lnSpc>
              <a:defRPr sz="1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Standard smartphone camera streams video frames through a Pose pipeline mapping 33 3D joint landmarks in real time.</a:t>
            </a:r>
          </a:p>
        </p:txBody>
      </p:sp>
      <p:sp>
        <p:nvSpPr>
          <p:cNvPr id="66" name="Shape 6"/>
          <p:cNvSpPr/>
          <p:nvPr/>
        </p:nvSpPr>
        <p:spPr>
          <a:xfrm>
            <a:off x="7751071" y="3321148"/>
            <a:ext cx="345472" cy="34548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ext 7"/>
          <p:cNvSpPr txBox="1"/>
          <p:nvPr/>
        </p:nvSpPr>
        <p:spPr>
          <a:xfrm>
            <a:off x="7853890" y="3354189"/>
            <a:ext cx="13983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2</a:t>
            </a:r>
          </a:p>
        </p:txBody>
      </p:sp>
      <p:sp>
        <p:nvSpPr>
          <p:cNvPr id="68" name="Text 8"/>
          <p:cNvSpPr txBox="1"/>
          <p:nvPr/>
        </p:nvSpPr>
        <p:spPr>
          <a:xfrm>
            <a:off x="8221257" y="3373933"/>
            <a:ext cx="2405858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Quality-Gated Rep Counting</a:t>
            </a:r>
          </a:p>
        </p:txBody>
      </p:sp>
      <p:sp>
        <p:nvSpPr>
          <p:cNvPr id="69" name="Text 9"/>
          <p:cNvSpPr txBox="1"/>
          <p:nvPr/>
        </p:nvSpPr>
        <p:spPr>
          <a:xfrm>
            <a:off x="8221257" y="3738560"/>
            <a:ext cx="3315213" cy="952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21000"/>
              </a:lnSpc>
              <a:defRPr sz="1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Joint angles (knee, hip, elbow, torso) checked against per-exercise biomechanical thresholds. A shallow squat is rejected — the rep counter does NOT increment.</a:t>
            </a:r>
          </a:p>
        </p:txBody>
      </p:sp>
      <p:sp>
        <p:nvSpPr>
          <p:cNvPr id="70" name="Shape 10"/>
          <p:cNvSpPr/>
          <p:nvPr/>
        </p:nvSpPr>
        <p:spPr>
          <a:xfrm>
            <a:off x="7751071" y="4878685"/>
            <a:ext cx="345472" cy="345481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11"/>
          <p:cNvSpPr txBox="1"/>
          <p:nvPr/>
        </p:nvSpPr>
        <p:spPr>
          <a:xfrm>
            <a:off x="7853890" y="4911725"/>
            <a:ext cx="13983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3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8221257" y="4931469"/>
            <a:ext cx="156953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5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AI Voice Coaching</a:t>
            </a:r>
          </a:p>
        </p:txBody>
      </p:sp>
      <p:sp>
        <p:nvSpPr>
          <p:cNvPr id="73" name="Text 13"/>
          <p:cNvSpPr txBox="1"/>
          <p:nvPr/>
        </p:nvSpPr>
        <p:spPr>
          <a:xfrm>
            <a:off x="8221257" y="5296098"/>
            <a:ext cx="3561582" cy="77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21000"/>
              </a:lnSpc>
              <a:defRPr sz="1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Energetic, </a:t>
            </a:r>
            <a:r>
              <a:rPr dirty="0" err="1"/>
              <a:t>personalised</a:t>
            </a:r>
            <a:r>
              <a:rPr dirty="0"/>
              <a:t> audio debrief in under 500 </a:t>
            </a:r>
            <a:r>
              <a:rPr dirty="0" err="1"/>
              <a:t>ms</a:t>
            </a:r>
            <a:r>
              <a:rPr dirty="0"/>
              <a:t> via expo-speech. Users hear exactly what to improve before their next set.</a:t>
            </a: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>
            <a:extLst>
              <a:ext uri="{FF2B5EF4-FFF2-40B4-BE49-F238E27FC236}">
                <a16:creationId xmlns:a16="http://schemas.microsoft.com/office/drawing/2014/main" id="{EE60DABA-5F42-7021-536A-060EDE731F7F}"/>
              </a:ext>
            </a:extLst>
          </p:cNvPr>
          <p:cNvSpPr/>
          <p:nvPr/>
        </p:nvSpPr>
        <p:spPr>
          <a:xfrm>
            <a:off x="661475" y="572393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Gamified Habit &amp; Retention Engine</a:t>
            </a:r>
            <a:endParaRPr lang="en-US" sz="3300" dirty="0"/>
          </a:p>
        </p:txBody>
      </p:sp>
      <p:sp>
        <p:nvSpPr>
          <p:cNvPr id="115" name="Text 1">
            <a:extLst>
              <a:ext uri="{FF2B5EF4-FFF2-40B4-BE49-F238E27FC236}">
                <a16:creationId xmlns:a16="http://schemas.microsoft.com/office/drawing/2014/main" id="{7CC6805C-546E-72A1-CC3C-82D618C21CFE}"/>
              </a:ext>
            </a:extLst>
          </p:cNvPr>
          <p:cNvSpPr/>
          <p:nvPr/>
        </p:nvSpPr>
        <p:spPr>
          <a:xfrm>
            <a:off x="661475" y="1323280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Behavioral design that transforms workouts into an addictive daily ritual</a:t>
            </a:r>
            <a:endParaRPr lang="en-US" sz="1300" dirty="0"/>
          </a:p>
        </p:txBody>
      </p:sp>
      <p:sp>
        <p:nvSpPr>
          <p:cNvPr id="117" name="Shape 2">
            <a:extLst>
              <a:ext uri="{FF2B5EF4-FFF2-40B4-BE49-F238E27FC236}">
                <a16:creationId xmlns:a16="http://schemas.microsoft.com/office/drawing/2014/main" id="{7226E7BC-2055-0068-7266-04E138C38DB3}"/>
              </a:ext>
            </a:extLst>
          </p:cNvPr>
          <p:cNvSpPr/>
          <p:nvPr/>
        </p:nvSpPr>
        <p:spPr>
          <a:xfrm>
            <a:off x="661475" y="1746548"/>
            <a:ext cx="3522971" cy="505023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pic>
        <p:nvPicPr>
          <p:cNvPr id="119" name="Image 0" descr="preencoded.png">
            <a:extLst>
              <a:ext uri="{FF2B5EF4-FFF2-40B4-BE49-F238E27FC236}">
                <a16:creationId xmlns:a16="http://schemas.microsoft.com/office/drawing/2014/main" id="{E64A7069-68B8-A507-4BDF-C71BBB19C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96658" y="1872754"/>
            <a:ext cx="252505" cy="252512"/>
          </a:xfrm>
          <a:prstGeom prst="rect">
            <a:avLst/>
          </a:prstGeom>
        </p:spPr>
      </p:pic>
      <p:sp>
        <p:nvSpPr>
          <p:cNvPr id="121" name="Text 3">
            <a:extLst>
              <a:ext uri="{FF2B5EF4-FFF2-40B4-BE49-F238E27FC236}">
                <a16:creationId xmlns:a16="http://schemas.microsoft.com/office/drawing/2014/main" id="{D4CCA8A1-96ED-C016-9CE3-9583CEA0D7E2}"/>
              </a:ext>
            </a:extLst>
          </p:cNvPr>
          <p:cNvSpPr/>
          <p:nvPr/>
        </p:nvSpPr>
        <p:spPr>
          <a:xfrm>
            <a:off x="829746" y="2401491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RPG Avatar Progression</a:t>
            </a:r>
            <a:endParaRPr lang="en-US" sz="1650" dirty="0"/>
          </a:p>
        </p:txBody>
      </p:sp>
      <p:sp>
        <p:nvSpPr>
          <p:cNvPr id="123" name="Text 4">
            <a:extLst>
              <a:ext uri="{FF2B5EF4-FFF2-40B4-BE49-F238E27FC236}">
                <a16:creationId xmlns:a16="http://schemas.microsoft.com/office/drawing/2014/main" id="{022ED7AB-E350-88AA-F6CC-645194639E96}"/>
              </a:ext>
            </a:extLst>
          </p:cNvPr>
          <p:cNvSpPr/>
          <p:nvPr/>
        </p:nvSpPr>
        <p:spPr>
          <a:xfrm>
            <a:off x="829746" y="2754412"/>
            <a:ext cx="3186430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clean rep earns XP. 7 tiers: Beginner → Starter → Regular → Dedicated → Athlete → Champion → Legend.</a:t>
            </a:r>
            <a:endParaRPr lang="en-US" sz="1300" dirty="0"/>
          </a:p>
        </p:txBody>
      </p:sp>
      <p:sp>
        <p:nvSpPr>
          <p:cNvPr id="125" name="Shape 5">
            <a:extLst>
              <a:ext uri="{FF2B5EF4-FFF2-40B4-BE49-F238E27FC236}">
                <a16:creationId xmlns:a16="http://schemas.microsoft.com/office/drawing/2014/main" id="{467AB235-D1BC-A621-5E55-72CDFB4128AB}"/>
              </a:ext>
            </a:extLst>
          </p:cNvPr>
          <p:cNvSpPr/>
          <p:nvPr/>
        </p:nvSpPr>
        <p:spPr>
          <a:xfrm>
            <a:off x="4334362" y="1746548"/>
            <a:ext cx="3522971" cy="505023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pic>
        <p:nvPicPr>
          <p:cNvPr id="127" name="Image 1" descr="preencoded.png">
            <a:extLst>
              <a:ext uri="{FF2B5EF4-FFF2-40B4-BE49-F238E27FC236}">
                <a16:creationId xmlns:a16="http://schemas.microsoft.com/office/drawing/2014/main" id="{43BAECB0-BE73-ADCC-15E1-BC1079EB3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545" y="1872754"/>
            <a:ext cx="252505" cy="252512"/>
          </a:xfrm>
          <a:prstGeom prst="rect">
            <a:avLst/>
          </a:prstGeom>
        </p:spPr>
      </p:pic>
      <p:sp>
        <p:nvSpPr>
          <p:cNvPr id="129" name="Text 6">
            <a:extLst>
              <a:ext uri="{FF2B5EF4-FFF2-40B4-BE49-F238E27FC236}">
                <a16:creationId xmlns:a16="http://schemas.microsoft.com/office/drawing/2014/main" id="{3E4DB5E9-51BD-C5CA-A1C3-76E8C5CF6AE2}"/>
              </a:ext>
            </a:extLst>
          </p:cNvPr>
          <p:cNvSpPr/>
          <p:nvPr/>
        </p:nvSpPr>
        <p:spPr>
          <a:xfrm>
            <a:off x="4502633" y="2401491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SVG Muscle Radar Chart</a:t>
            </a:r>
            <a:endParaRPr lang="en-US" sz="1650" dirty="0"/>
          </a:p>
        </p:txBody>
      </p:sp>
      <p:sp>
        <p:nvSpPr>
          <p:cNvPr id="131" name="Text 7">
            <a:extLst>
              <a:ext uri="{FF2B5EF4-FFF2-40B4-BE49-F238E27FC236}">
                <a16:creationId xmlns:a16="http://schemas.microsoft.com/office/drawing/2014/main" id="{E6E18BC9-0EDA-5CE2-4BC9-EE8DDD5E3EFF}"/>
              </a:ext>
            </a:extLst>
          </p:cNvPr>
          <p:cNvSpPr/>
          <p:nvPr/>
        </p:nvSpPr>
        <p:spPr>
          <a:xfrm>
            <a:off x="4502633" y="2754411"/>
            <a:ext cx="3186430" cy="923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Custom-built radar chart tracks training volume across all 6 major muscle groups in real time — no third-party lib.</a:t>
            </a:r>
            <a:endParaRPr lang="en-US" sz="1300" dirty="0"/>
          </a:p>
        </p:txBody>
      </p:sp>
      <p:sp>
        <p:nvSpPr>
          <p:cNvPr id="133" name="Shape 8">
            <a:extLst>
              <a:ext uri="{FF2B5EF4-FFF2-40B4-BE49-F238E27FC236}">
                <a16:creationId xmlns:a16="http://schemas.microsoft.com/office/drawing/2014/main" id="{3B653857-F155-C6F1-0CE1-50A0F9575F15}"/>
              </a:ext>
            </a:extLst>
          </p:cNvPr>
          <p:cNvSpPr/>
          <p:nvPr/>
        </p:nvSpPr>
        <p:spPr>
          <a:xfrm>
            <a:off x="8007249" y="1746548"/>
            <a:ext cx="3522971" cy="505023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pic>
        <p:nvPicPr>
          <p:cNvPr id="135" name="Image 2" descr="preencoded.png">
            <a:extLst>
              <a:ext uri="{FF2B5EF4-FFF2-40B4-BE49-F238E27FC236}">
                <a16:creationId xmlns:a16="http://schemas.microsoft.com/office/drawing/2014/main" id="{F08587A8-0BC6-E273-8C92-40681FF7C3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2432" y="1872754"/>
            <a:ext cx="252505" cy="252512"/>
          </a:xfrm>
          <a:prstGeom prst="rect">
            <a:avLst/>
          </a:prstGeom>
        </p:spPr>
      </p:pic>
      <p:sp>
        <p:nvSpPr>
          <p:cNvPr id="137" name="Text 9">
            <a:extLst>
              <a:ext uri="{FF2B5EF4-FFF2-40B4-BE49-F238E27FC236}">
                <a16:creationId xmlns:a16="http://schemas.microsoft.com/office/drawing/2014/main" id="{F86DBE8F-56DB-8A0B-62D2-00E52403F82E}"/>
              </a:ext>
            </a:extLst>
          </p:cNvPr>
          <p:cNvSpPr/>
          <p:nvPr/>
        </p:nvSpPr>
        <p:spPr>
          <a:xfrm>
            <a:off x="8175520" y="2401491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Head-to-Head Comparison</a:t>
            </a:r>
            <a:endParaRPr lang="en-US" sz="1650" dirty="0"/>
          </a:p>
        </p:txBody>
      </p:sp>
      <p:sp>
        <p:nvSpPr>
          <p:cNvPr id="139" name="Text 10">
            <a:extLst>
              <a:ext uri="{FF2B5EF4-FFF2-40B4-BE49-F238E27FC236}">
                <a16:creationId xmlns:a16="http://schemas.microsoft.com/office/drawing/2014/main" id="{B54659FC-29B1-6A75-2F19-121F7194756F}"/>
              </a:ext>
            </a:extLst>
          </p:cNvPr>
          <p:cNvSpPr/>
          <p:nvPr/>
        </p:nvSpPr>
        <p:spPr>
          <a:xfrm>
            <a:off x="8175520" y="2754412"/>
            <a:ext cx="318643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volume, 1-Rep Max PBs, and muscle split balance against friends over 7 / 30 / 90 day windows.</a:t>
            </a:r>
            <a:endParaRPr lang="en-US" sz="1300" dirty="0"/>
          </a:p>
        </p:txBody>
      </p:sp>
      <p:sp>
        <p:nvSpPr>
          <p:cNvPr id="141" name="Shape 11">
            <a:extLst>
              <a:ext uri="{FF2B5EF4-FFF2-40B4-BE49-F238E27FC236}">
                <a16:creationId xmlns:a16="http://schemas.microsoft.com/office/drawing/2014/main" id="{53A7B532-84CA-96C6-056C-331691D4E462}"/>
              </a:ext>
            </a:extLst>
          </p:cNvPr>
          <p:cNvSpPr/>
          <p:nvPr/>
        </p:nvSpPr>
        <p:spPr>
          <a:xfrm>
            <a:off x="661475" y="4090988"/>
            <a:ext cx="3522971" cy="505023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pic>
        <p:nvPicPr>
          <p:cNvPr id="143" name="Image 3" descr="preencoded.png">
            <a:extLst>
              <a:ext uri="{FF2B5EF4-FFF2-40B4-BE49-F238E27FC236}">
                <a16:creationId xmlns:a16="http://schemas.microsoft.com/office/drawing/2014/main" id="{A71B532A-7DF7-CAED-19CD-7FA72CB9C7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6658" y="4217194"/>
            <a:ext cx="252505" cy="252512"/>
          </a:xfrm>
          <a:prstGeom prst="rect">
            <a:avLst/>
          </a:prstGeom>
        </p:spPr>
      </p:pic>
      <p:sp>
        <p:nvSpPr>
          <p:cNvPr id="145" name="Text 12">
            <a:extLst>
              <a:ext uri="{FF2B5EF4-FFF2-40B4-BE49-F238E27FC236}">
                <a16:creationId xmlns:a16="http://schemas.microsoft.com/office/drawing/2014/main" id="{CC3E82A5-021F-5239-956F-948F4982462F}"/>
              </a:ext>
            </a:extLst>
          </p:cNvPr>
          <p:cNvSpPr/>
          <p:nvPr/>
        </p:nvSpPr>
        <p:spPr>
          <a:xfrm>
            <a:off x="829746" y="4745930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Smart Nutrition Engine</a:t>
            </a:r>
            <a:endParaRPr lang="en-US" sz="1650" dirty="0"/>
          </a:p>
        </p:txBody>
      </p:sp>
      <p:sp>
        <p:nvSpPr>
          <p:cNvPr id="147" name="Text 13">
            <a:extLst>
              <a:ext uri="{FF2B5EF4-FFF2-40B4-BE49-F238E27FC236}">
                <a16:creationId xmlns:a16="http://schemas.microsoft.com/office/drawing/2014/main" id="{C7900369-6C77-E5B3-8A03-6680F4E411FF}"/>
              </a:ext>
            </a:extLst>
          </p:cNvPr>
          <p:cNvSpPr/>
          <p:nvPr/>
        </p:nvSpPr>
        <p:spPr>
          <a:xfrm>
            <a:off x="874472" y="5158878"/>
            <a:ext cx="3186430" cy="923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BMR &amp; TDEE calculation with personalized daily Protein/Carb/Fat macro breakdowns for Veg and Non-Veg diets.</a:t>
            </a:r>
            <a:endParaRPr lang="en-US" sz="1300" dirty="0"/>
          </a:p>
        </p:txBody>
      </p:sp>
      <p:sp>
        <p:nvSpPr>
          <p:cNvPr id="149" name="Shape 14">
            <a:extLst>
              <a:ext uri="{FF2B5EF4-FFF2-40B4-BE49-F238E27FC236}">
                <a16:creationId xmlns:a16="http://schemas.microsoft.com/office/drawing/2014/main" id="{13470EBB-6D1C-4DDE-806A-DF96E1C5B75C}"/>
              </a:ext>
            </a:extLst>
          </p:cNvPr>
          <p:cNvSpPr/>
          <p:nvPr/>
        </p:nvSpPr>
        <p:spPr>
          <a:xfrm>
            <a:off x="4334362" y="4090988"/>
            <a:ext cx="3522971" cy="505023"/>
          </a:xfrm>
          <a:prstGeom prst="roundRect">
            <a:avLst>
              <a:gd name="adj" fmla="val 49999"/>
            </a:avLst>
          </a:prstGeom>
          <a:solidFill>
            <a:srgbClr val="4C5052"/>
          </a:solidFill>
          <a:ln/>
        </p:spPr>
      </p:sp>
      <p:pic>
        <p:nvPicPr>
          <p:cNvPr id="151" name="Image 4" descr="preencoded.png">
            <a:extLst>
              <a:ext uri="{FF2B5EF4-FFF2-40B4-BE49-F238E27FC236}">
                <a16:creationId xmlns:a16="http://schemas.microsoft.com/office/drawing/2014/main" id="{B4DCB47A-8FF3-3B80-32E1-4B80EBA975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9545" y="4217194"/>
            <a:ext cx="252505" cy="252512"/>
          </a:xfrm>
          <a:prstGeom prst="rect">
            <a:avLst/>
          </a:prstGeom>
        </p:spPr>
      </p:pic>
      <p:sp>
        <p:nvSpPr>
          <p:cNvPr id="153" name="Text 15">
            <a:extLst>
              <a:ext uri="{FF2B5EF4-FFF2-40B4-BE49-F238E27FC236}">
                <a16:creationId xmlns:a16="http://schemas.microsoft.com/office/drawing/2014/main" id="{D7B0353B-4C44-505B-922E-3E24F934FABE}"/>
              </a:ext>
            </a:extLst>
          </p:cNvPr>
          <p:cNvSpPr/>
          <p:nvPr/>
        </p:nvSpPr>
        <p:spPr>
          <a:xfrm>
            <a:off x="4502633" y="4745930"/>
            <a:ext cx="318643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24+ Achievements &amp; Streaks</a:t>
            </a:r>
            <a:endParaRPr lang="en-US" sz="165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1020D519-AB5C-305A-AABD-4A190EE2BD1C}"/>
              </a:ext>
            </a:extLst>
          </p:cNvPr>
          <p:cNvSpPr/>
          <p:nvPr/>
        </p:nvSpPr>
        <p:spPr>
          <a:xfrm>
            <a:off x="4502633" y="5098852"/>
            <a:ext cx="3354700" cy="834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Bronze, Silver, Gold milestone badges unlockable via real-time achievement toast notifications.</a:t>
            </a:r>
            <a:endParaRPr lang="en-US" sz="13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A461410C-B834-08DF-FD3A-54F107518689}"/>
              </a:ext>
            </a:extLst>
          </p:cNvPr>
          <p:cNvSpPr/>
          <p:nvPr/>
        </p:nvSpPr>
        <p:spPr>
          <a:xfrm>
            <a:off x="661475" y="606921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Market Opportunity: A USD 35.8 Billion Convergence</a:t>
            </a:r>
            <a:endParaRPr lang="en-US" sz="265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78162DD-47C0-DBBC-ABCC-560DA5D543B0}"/>
              </a:ext>
            </a:extLst>
          </p:cNvPr>
          <p:cNvSpPr/>
          <p:nvPr/>
        </p:nvSpPr>
        <p:spPr>
          <a:xfrm>
            <a:off x="661475" y="1226641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+ Digital Health + Mobile Fitness + Hybrid Gym Across = all growing at 27.6% CAGR</a:t>
            </a:r>
            <a:endParaRPr lang="en-US" sz="1050" dirty="0"/>
          </a:p>
        </p:txBody>
      </p:sp>
      <p:pic>
        <p:nvPicPr>
          <p:cNvPr id="47" name="Image 0" descr="preencoded.png">
            <a:extLst>
              <a:ext uri="{FF2B5EF4-FFF2-40B4-BE49-F238E27FC236}">
                <a16:creationId xmlns:a16="http://schemas.microsoft.com/office/drawing/2014/main" id="{B679F62D-AE9E-8BC2-6DA3-C50A187F5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650802"/>
            <a:ext cx="6388635" cy="4197945"/>
          </a:xfrm>
          <a:prstGeom prst="rect">
            <a:avLst/>
          </a:prstGeom>
        </p:spPr>
      </p:pic>
      <p:sp>
        <p:nvSpPr>
          <p:cNvPr id="49" name="Text 2">
            <a:extLst>
              <a:ext uri="{FF2B5EF4-FFF2-40B4-BE49-F238E27FC236}">
                <a16:creationId xmlns:a16="http://schemas.microsoft.com/office/drawing/2014/main" id="{28F32D60-E0FC-1B0C-1737-F096B0789ABF}"/>
              </a:ext>
            </a:extLst>
          </p:cNvPr>
          <p:cNvSpPr/>
          <p:nvPr/>
        </p:nvSpPr>
        <p:spPr>
          <a:xfrm>
            <a:off x="661475" y="5958582"/>
            <a:ext cx="69982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global fitness market is projected to reach USD 35.8 Billion with a CAGR of 17.6%.</a:t>
            </a:r>
            <a:endParaRPr lang="en-US" sz="105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D011A18-0C6D-BF5D-B4E3-D91D65B6FB72}"/>
              </a:ext>
            </a:extLst>
          </p:cNvPr>
          <p:cNvSpPr/>
          <p:nvPr/>
        </p:nvSpPr>
        <p:spPr>
          <a:xfrm>
            <a:off x="7387842" y="1620838"/>
            <a:ext cx="414862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Market Insights</a:t>
            </a:r>
            <a:endParaRPr lang="en-US" sz="1300" dirty="0"/>
          </a:p>
        </p:txBody>
      </p:sp>
      <p:pic>
        <p:nvPicPr>
          <p:cNvPr id="53" name="Image 1" descr="preencoded.png">
            <a:extLst>
              <a:ext uri="{FF2B5EF4-FFF2-40B4-BE49-F238E27FC236}">
                <a16:creationId xmlns:a16="http://schemas.microsoft.com/office/drawing/2014/main" id="{B1AE58FE-63E9-5E9E-C6BE-8810955804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792" y="1923951"/>
            <a:ext cx="4167679" cy="721519"/>
          </a:xfrm>
          <a:prstGeom prst="rect">
            <a:avLst/>
          </a:prstGeom>
        </p:spPr>
      </p:pic>
      <p:sp>
        <p:nvSpPr>
          <p:cNvPr id="55" name="Text 4">
            <a:extLst>
              <a:ext uri="{FF2B5EF4-FFF2-40B4-BE49-F238E27FC236}">
                <a16:creationId xmlns:a16="http://schemas.microsoft.com/office/drawing/2014/main" id="{D50E1774-A7DA-3F88-4DC0-88D244509E4A}"/>
              </a:ext>
            </a:extLst>
          </p:cNvPr>
          <p:cNvSpPr/>
          <p:nvPr/>
        </p:nvSpPr>
        <p:spPr>
          <a:xfrm>
            <a:off x="7561768" y="1943001"/>
            <a:ext cx="397470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17.6% CAGR</a:t>
            </a:r>
            <a:endParaRPr lang="en-US" sz="1300" dirty="0"/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56DADF3E-BD75-B526-A05E-B6298C461DE0}"/>
              </a:ext>
            </a:extLst>
          </p:cNvPr>
          <p:cNvSpPr/>
          <p:nvPr/>
        </p:nvSpPr>
        <p:spPr>
          <a:xfrm>
            <a:off x="7561768" y="2252960"/>
            <a:ext cx="3974703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global fitness market is growing rapidly faster than traditional sectors.</a:t>
            </a:r>
            <a:endParaRPr lang="en-US" sz="1050" dirty="0"/>
          </a:p>
        </p:txBody>
      </p:sp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95EB96E2-67EC-36EF-20FD-4842EAC2F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792" y="2802632"/>
            <a:ext cx="4167679" cy="721519"/>
          </a:xfrm>
          <a:prstGeom prst="rect">
            <a:avLst/>
          </a:prstGeom>
        </p:spPr>
      </p:pic>
      <p:sp>
        <p:nvSpPr>
          <p:cNvPr id="61" name="Text 6">
            <a:extLst>
              <a:ext uri="{FF2B5EF4-FFF2-40B4-BE49-F238E27FC236}">
                <a16:creationId xmlns:a16="http://schemas.microsoft.com/office/drawing/2014/main" id="{81EC9A16-1952-8E0E-08CF-0F294A5EB26C}"/>
              </a:ext>
            </a:extLst>
          </p:cNvPr>
          <p:cNvSpPr/>
          <p:nvPr/>
        </p:nvSpPr>
        <p:spPr>
          <a:xfrm>
            <a:off x="7561768" y="2821682"/>
            <a:ext cx="397470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75% Tech Health Digitally</a:t>
            </a:r>
            <a:endParaRPr lang="en-US" sz="13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2046E91E-2467-3EE0-8576-5DD326861BE7}"/>
              </a:ext>
            </a:extLst>
          </p:cNvPr>
          <p:cNvSpPr/>
          <p:nvPr/>
        </p:nvSpPr>
        <p:spPr>
          <a:xfrm>
            <a:off x="7561768" y="3131641"/>
            <a:ext cx="3974703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of health-conscious consumers now use digital fitness tools, apps, or wearables.</a:t>
            </a:r>
            <a:endParaRPr lang="en-US" sz="1050" dirty="0"/>
          </a:p>
        </p:txBody>
      </p:sp>
      <p:pic>
        <p:nvPicPr>
          <p:cNvPr id="65" name="Image 3" descr="preencoded.png">
            <a:extLst>
              <a:ext uri="{FF2B5EF4-FFF2-40B4-BE49-F238E27FC236}">
                <a16:creationId xmlns:a16="http://schemas.microsoft.com/office/drawing/2014/main" id="{F1381FB5-25E2-F71C-776D-678D9C8E4F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792" y="3681313"/>
            <a:ext cx="4167679" cy="721519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219F5EA9-1821-7261-7CE2-7D87D7300235}"/>
              </a:ext>
            </a:extLst>
          </p:cNvPr>
          <p:cNvSpPr/>
          <p:nvPr/>
        </p:nvSpPr>
        <p:spPr>
          <a:xfrm>
            <a:off x="7561768" y="3700363"/>
            <a:ext cx="397470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Home Gym Boom &amp; Hybrid Fitness</a:t>
            </a:r>
            <a:endParaRPr lang="en-US" sz="1300" dirty="0"/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CD9BD440-A631-984F-2BE0-5B6F41461D3D}"/>
              </a:ext>
            </a:extLst>
          </p:cNvPr>
          <p:cNvSpPr/>
          <p:nvPr/>
        </p:nvSpPr>
        <p:spPr>
          <a:xfrm>
            <a:off x="7561768" y="4010323"/>
            <a:ext cx="3974703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Pandemic-driven shift to hybrid fitness without creating a permanent home gym setup.</a:t>
            </a:r>
            <a:endParaRPr lang="en-US" sz="1050" dirty="0"/>
          </a:p>
        </p:txBody>
      </p:sp>
      <p:pic>
        <p:nvPicPr>
          <p:cNvPr id="71" name="Image 4" descr="preencoded.png">
            <a:extLst>
              <a:ext uri="{FF2B5EF4-FFF2-40B4-BE49-F238E27FC236}">
                <a16:creationId xmlns:a16="http://schemas.microsoft.com/office/drawing/2014/main" id="{1118E252-D561-5DBB-CDCB-5FB27362C1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792" y="4559995"/>
            <a:ext cx="4167679" cy="721519"/>
          </a:xfrm>
          <a:prstGeom prst="rect">
            <a:avLst/>
          </a:prstGeom>
        </p:spPr>
      </p:pic>
      <p:sp>
        <p:nvSpPr>
          <p:cNvPr id="73" name="Text 10">
            <a:extLst>
              <a:ext uri="{FF2B5EF4-FFF2-40B4-BE49-F238E27FC236}">
                <a16:creationId xmlns:a16="http://schemas.microsoft.com/office/drawing/2014/main" id="{6B405B99-FE1D-5BEF-6F22-67108B45FF6E}"/>
              </a:ext>
            </a:extLst>
          </p:cNvPr>
          <p:cNvSpPr/>
          <p:nvPr/>
        </p:nvSpPr>
        <p:spPr>
          <a:xfrm>
            <a:off x="7561768" y="4579045"/>
            <a:ext cx="397470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Gym Aggregation Gap</a:t>
            </a:r>
            <a:endParaRPr lang="en-US" sz="130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58A5451A-2EB6-B482-C244-F6AC6D5E55A9}"/>
              </a:ext>
            </a:extLst>
          </p:cNvPr>
          <p:cNvSpPr/>
          <p:nvPr/>
        </p:nvSpPr>
        <p:spPr>
          <a:xfrm>
            <a:off x="7561768" y="4889004"/>
            <a:ext cx="3974703" cy="502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gyms lack digital discovery and booking tools — a massive untapped opportunity.</a:t>
            </a:r>
            <a:endParaRPr lang="en-US" sz="105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3C0E852F-770C-AD8B-0550-6D35DE6C1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792" y="5438676"/>
            <a:ext cx="4167679" cy="721519"/>
          </a:xfrm>
          <a:prstGeom prst="rect">
            <a:avLst/>
          </a:prstGeom>
        </p:spPr>
      </p:pic>
      <p:sp>
        <p:nvSpPr>
          <p:cNvPr id="79" name="Text 12">
            <a:extLst>
              <a:ext uri="{FF2B5EF4-FFF2-40B4-BE49-F238E27FC236}">
                <a16:creationId xmlns:a16="http://schemas.microsoft.com/office/drawing/2014/main" id="{DB9B0DC3-D04F-ACA9-A466-4840037F5F9B}"/>
              </a:ext>
            </a:extLst>
          </p:cNvPr>
          <p:cNvSpPr/>
          <p:nvPr/>
        </p:nvSpPr>
        <p:spPr>
          <a:xfrm>
            <a:off x="7561768" y="5457726"/>
            <a:ext cx="3974703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Gen-Z Millennial Boom</a:t>
            </a:r>
            <a:endParaRPr lang="en-US" sz="1300" dirty="0"/>
          </a:p>
        </p:txBody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91CFEB4C-B5C4-1745-578F-B7ADA2F8085C}"/>
              </a:ext>
            </a:extLst>
          </p:cNvPr>
          <p:cNvSpPr/>
          <p:nvPr/>
        </p:nvSpPr>
        <p:spPr>
          <a:xfrm>
            <a:off x="7561768" y="5767685"/>
            <a:ext cx="3974703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18-34 age group accounts for 45% of fitness spenders and has the highest willingness to pay for online products.</a:t>
            </a:r>
            <a:endParaRPr lang="en-US" sz="105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6B9C2A01-15E8-72FE-046C-0DA4A117A1AD}"/>
              </a:ext>
            </a:extLst>
          </p:cNvPr>
          <p:cNvSpPr/>
          <p:nvPr/>
        </p:nvSpPr>
        <p:spPr>
          <a:xfrm>
            <a:off x="611001" y="27420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Competitive Landscape: Why FIZI Wins</a:t>
            </a:r>
            <a:endParaRPr lang="en-US" sz="2800" dirty="0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C158BF41-AC6C-87AF-3870-2BBEB9A66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93999AE8-A043-D438-5E42-E06A4B8200BB}"/>
              </a:ext>
            </a:extLst>
          </p:cNvPr>
          <p:cNvSpPr/>
          <p:nvPr/>
        </p:nvSpPr>
        <p:spPr>
          <a:xfrm>
            <a:off x="6194627" y="1295884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FIZI's Unfair Advantages</a:t>
            </a:r>
            <a:endParaRPr lang="en-US" sz="2400" dirty="0"/>
          </a:p>
        </p:txBody>
      </p:sp>
      <p:pic>
        <p:nvPicPr>
          <p:cNvPr id="37" name="Image 1" descr="preencoded.png">
            <a:extLst>
              <a:ext uri="{FF2B5EF4-FFF2-40B4-BE49-F238E27FC236}">
                <a16:creationId xmlns:a16="http://schemas.microsoft.com/office/drawing/2014/main" id="{2B0DBFD5-2F1E-0B04-5451-8F41F27EFA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787" y="1821613"/>
            <a:ext cx="2642725" cy="447080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F1FBAB83-014F-2134-8C33-B87C4E2F8A03}"/>
              </a:ext>
            </a:extLst>
          </p:cNvPr>
          <p:cNvSpPr/>
          <p:nvPr/>
        </p:nvSpPr>
        <p:spPr>
          <a:xfrm>
            <a:off x="6337340" y="1834313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 Vision — No Hardware</a:t>
            </a:r>
            <a:endParaRPr lang="en-US" sz="14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DE01CD36-70C2-1620-94E0-0F91C26245AE}"/>
              </a:ext>
            </a:extLst>
          </p:cNvPr>
          <p:cNvSpPr/>
          <p:nvPr/>
        </p:nvSpPr>
        <p:spPr>
          <a:xfrm>
            <a:off x="6337339" y="2169922"/>
            <a:ext cx="5142407" cy="547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Peloton requires $1,500+ equipment. FIZI works on any smartphone already in your pocket.</a:t>
            </a:r>
            <a:endParaRPr lang="en-US" sz="1400" dirty="0"/>
          </a:p>
        </p:txBody>
      </p:sp>
      <p:pic>
        <p:nvPicPr>
          <p:cNvPr id="43" name="Image 2" descr="preencoded.png">
            <a:extLst>
              <a:ext uri="{FF2B5EF4-FFF2-40B4-BE49-F238E27FC236}">
                <a16:creationId xmlns:a16="http://schemas.microsoft.com/office/drawing/2014/main" id="{36B41C2C-057E-35F3-5E0B-8BE0F47960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787" y="2929037"/>
            <a:ext cx="2642725" cy="447080"/>
          </a:xfrm>
          <a:prstGeom prst="rect">
            <a:avLst/>
          </a:prstGeom>
        </p:spPr>
      </p:pic>
      <p:sp>
        <p:nvSpPr>
          <p:cNvPr id="45" name="Text 5">
            <a:extLst>
              <a:ext uri="{FF2B5EF4-FFF2-40B4-BE49-F238E27FC236}">
                <a16:creationId xmlns:a16="http://schemas.microsoft.com/office/drawing/2014/main" id="{16C99BC7-FF60-A557-5C83-22FFC8ACC4D7}"/>
              </a:ext>
            </a:extLst>
          </p:cNvPr>
          <p:cNvSpPr/>
          <p:nvPr/>
        </p:nvSpPr>
        <p:spPr>
          <a:xfrm>
            <a:off x="6337340" y="2941737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Social RPG Retention</a:t>
            </a:r>
            <a:endParaRPr lang="en-US" sz="14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5F41753F-B861-AB6E-C556-EDB790BC175F}"/>
              </a:ext>
            </a:extLst>
          </p:cNvPr>
          <p:cNvSpPr/>
          <p:nvPr/>
        </p:nvSpPr>
        <p:spPr>
          <a:xfrm>
            <a:off x="6337339" y="3185213"/>
            <a:ext cx="4711265" cy="178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competitor combines gamified XP progression with head-to-head peer comparison at this price point.</a:t>
            </a:r>
            <a:endParaRPr lang="en-US" sz="1400" dirty="0"/>
          </a:p>
        </p:txBody>
      </p:sp>
      <p:pic>
        <p:nvPicPr>
          <p:cNvPr id="49" name="Image 3" descr="preencoded.png">
            <a:extLst>
              <a:ext uri="{FF2B5EF4-FFF2-40B4-BE49-F238E27FC236}">
                <a16:creationId xmlns:a16="http://schemas.microsoft.com/office/drawing/2014/main" id="{7A789824-3437-6745-2212-4AC611FC4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444" y="4018596"/>
            <a:ext cx="2642725" cy="560487"/>
          </a:xfrm>
          <a:prstGeom prst="rect">
            <a:avLst/>
          </a:prstGeom>
        </p:spPr>
      </p:pic>
      <p:sp>
        <p:nvSpPr>
          <p:cNvPr id="51" name="Text 7">
            <a:extLst>
              <a:ext uri="{FF2B5EF4-FFF2-40B4-BE49-F238E27FC236}">
                <a16:creationId xmlns:a16="http://schemas.microsoft.com/office/drawing/2014/main" id="{BDC4DD50-2189-D8A8-0553-93CB2E527355}"/>
              </a:ext>
            </a:extLst>
          </p:cNvPr>
          <p:cNvSpPr/>
          <p:nvPr/>
        </p:nvSpPr>
        <p:spPr>
          <a:xfrm>
            <a:off x="6343997" y="403129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Gym Marketplace (Phase 2)</a:t>
            </a:r>
            <a:endParaRPr lang="en-US" sz="140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AB10314D-6707-4AAD-517C-BCAE51B59174}"/>
              </a:ext>
            </a:extLst>
          </p:cNvPr>
          <p:cNvSpPr/>
          <p:nvPr/>
        </p:nvSpPr>
        <p:spPr>
          <a:xfrm>
            <a:off x="6337338" y="4318037"/>
            <a:ext cx="5087692" cy="54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decentralized gym network layer that no pure-software competitor can replicate without massive capex.</a:t>
            </a:r>
            <a:endParaRPr lang="en-US" sz="1400" dirty="0"/>
          </a:p>
        </p:txBody>
      </p:sp>
      <p:pic>
        <p:nvPicPr>
          <p:cNvPr id="55" name="Image 4" descr="preencoded.png">
            <a:extLst>
              <a:ext uri="{FF2B5EF4-FFF2-40B4-BE49-F238E27FC236}">
                <a16:creationId xmlns:a16="http://schemas.microsoft.com/office/drawing/2014/main" id="{64AC3F0C-977A-5FB0-24D3-91C0E4B51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7" y="5047036"/>
            <a:ext cx="2642725" cy="560487"/>
          </a:xfrm>
          <a:prstGeom prst="rect">
            <a:avLst/>
          </a:prstGeom>
        </p:spPr>
      </p:pic>
      <p:sp>
        <p:nvSpPr>
          <p:cNvPr id="57" name="Text 9">
            <a:extLst>
              <a:ext uri="{FF2B5EF4-FFF2-40B4-BE49-F238E27FC236}">
                <a16:creationId xmlns:a16="http://schemas.microsoft.com/office/drawing/2014/main" id="{8774A980-C948-A912-8BBB-5D08E11E1D64}"/>
              </a:ext>
            </a:extLst>
          </p:cNvPr>
          <p:cNvSpPr/>
          <p:nvPr/>
        </p:nvSpPr>
        <p:spPr>
          <a:xfrm>
            <a:off x="6337340" y="5059736"/>
            <a:ext cx="251017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India-First Pricing</a:t>
            </a:r>
            <a:endParaRPr lang="en-US" sz="1400" dirty="0"/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F393A524-4512-0A08-E4CB-F0AE9D7290EB}"/>
              </a:ext>
            </a:extLst>
          </p:cNvPr>
          <p:cNvSpPr/>
          <p:nvPr/>
        </p:nvSpPr>
        <p:spPr>
          <a:xfrm>
            <a:off x="6337338" y="5327279"/>
            <a:ext cx="5087692" cy="541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Rs.299/quarter vs. $15+/month globally — unlocking a 95% gym-goer segment priced out of existing solutions.</a:t>
            </a:r>
            <a:endParaRPr lang="en-US" sz="14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79" y="678458"/>
            <a:ext cx="11358439" cy="3730753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Rectangle 4"/>
          <p:cNvSpPr/>
          <p:nvPr/>
        </p:nvSpPr>
        <p:spPr>
          <a:xfrm>
            <a:off x="201167" y="4910328"/>
            <a:ext cx="3767330" cy="1188721"/>
          </a:xfrm>
          <a:prstGeom prst="rect">
            <a:avLst/>
          </a:prstGeom>
          <a:solidFill>
            <a:srgbClr val="F0F2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Rectangle 6"/>
          <p:cNvSpPr/>
          <p:nvPr/>
        </p:nvSpPr>
        <p:spPr>
          <a:xfrm>
            <a:off x="201167" y="4910328"/>
            <a:ext cx="3767330" cy="64009"/>
          </a:xfrm>
          <a:prstGeom prst="rect">
            <a:avLst/>
          </a:prstGeom>
          <a:solidFill>
            <a:srgbClr val="4F46E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9" name="TextBox 8"/>
          <p:cNvSpPr txBox="1"/>
          <p:nvPr/>
        </p:nvSpPr>
        <p:spPr>
          <a:xfrm>
            <a:off x="393191" y="5020055"/>
            <a:ext cx="344729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A1A2E"/>
                </a:solidFill>
              </a:defRPr>
            </a:lvl1pPr>
          </a:lstStyle>
          <a:p>
            <a:r>
              <a:t>Incumbent Blind Spot</a:t>
            </a:r>
          </a:p>
        </p:txBody>
      </p:sp>
      <p:sp>
        <p:nvSpPr>
          <p:cNvPr id="140" name="TextBox 10"/>
          <p:cNvSpPr txBox="1"/>
          <p:nvPr/>
        </p:nvSpPr>
        <p:spPr>
          <a:xfrm>
            <a:off x="393191" y="5404103"/>
            <a:ext cx="344729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Peloton and Apple Fitness+ are married to expensive hardware ecosystems. They cannot serve the 95% without a USD 1,500+ device.</a:t>
            </a:r>
          </a:p>
        </p:txBody>
      </p:sp>
      <p:sp>
        <p:nvSpPr>
          <p:cNvPr id="141" name="Rectangle 12"/>
          <p:cNvSpPr/>
          <p:nvPr/>
        </p:nvSpPr>
        <p:spPr>
          <a:xfrm>
            <a:off x="4151375" y="4910328"/>
            <a:ext cx="3767330" cy="1188721"/>
          </a:xfrm>
          <a:prstGeom prst="rect">
            <a:avLst/>
          </a:prstGeom>
          <a:solidFill>
            <a:srgbClr val="F0F2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Rectangle 14"/>
          <p:cNvSpPr/>
          <p:nvPr/>
        </p:nvSpPr>
        <p:spPr>
          <a:xfrm>
            <a:off x="4151375" y="4910328"/>
            <a:ext cx="3767330" cy="64009"/>
          </a:xfrm>
          <a:prstGeom prst="rect">
            <a:avLst/>
          </a:prstGeom>
          <a:solidFill>
            <a:srgbClr val="F9731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" name="TextBox 16"/>
          <p:cNvSpPr txBox="1"/>
          <p:nvPr/>
        </p:nvSpPr>
        <p:spPr>
          <a:xfrm>
            <a:off x="4343399" y="5020055"/>
            <a:ext cx="344729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A1A2E"/>
                </a:solidFill>
              </a:defRPr>
            </a:lvl1pPr>
          </a:lstStyle>
          <a:p>
            <a:r>
              <a:t>Cult.fit Limitation</a:t>
            </a:r>
          </a:p>
        </p:txBody>
      </p:sp>
      <p:sp>
        <p:nvSpPr>
          <p:cNvPr id="144" name="TextBox 18"/>
          <p:cNvSpPr txBox="1"/>
          <p:nvPr/>
        </p:nvSpPr>
        <p:spPr>
          <a:xfrm>
            <a:off x="4343399" y="5404103"/>
            <a:ext cx="344729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Cult.fit only works with its own chain studios. It leaves thousands of independent private gyms completely untouched by digital tools.</a:t>
            </a:r>
          </a:p>
        </p:txBody>
      </p:sp>
      <p:sp>
        <p:nvSpPr>
          <p:cNvPr id="145" name="Rectangle 20"/>
          <p:cNvSpPr/>
          <p:nvPr/>
        </p:nvSpPr>
        <p:spPr>
          <a:xfrm>
            <a:off x="8101583" y="4910328"/>
            <a:ext cx="3767329" cy="1188721"/>
          </a:xfrm>
          <a:prstGeom prst="rect">
            <a:avLst/>
          </a:prstGeom>
          <a:solidFill>
            <a:srgbClr val="F0F2F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6" name="Rectangle 22"/>
          <p:cNvSpPr/>
          <p:nvPr/>
        </p:nvSpPr>
        <p:spPr>
          <a:xfrm>
            <a:off x="8101583" y="4910328"/>
            <a:ext cx="3767329" cy="64009"/>
          </a:xfrm>
          <a:prstGeom prst="rect">
            <a:avLst/>
          </a:prstGeom>
          <a:solidFill>
            <a:srgbClr val="8BC34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TextBox 24"/>
          <p:cNvSpPr txBox="1"/>
          <p:nvPr/>
        </p:nvSpPr>
        <p:spPr>
          <a:xfrm>
            <a:off x="8293607" y="5020055"/>
            <a:ext cx="344729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A1A2E"/>
                </a:solidFill>
              </a:defRPr>
            </a:lvl1pPr>
          </a:lstStyle>
          <a:p>
            <a:r>
              <a:t>FIZI's Unique Position</a:t>
            </a:r>
          </a:p>
        </p:txBody>
      </p:sp>
      <p:sp>
        <p:nvSpPr>
          <p:cNvPr id="148" name="TextBox 26"/>
          <p:cNvSpPr txBox="1"/>
          <p:nvPr/>
        </p:nvSpPr>
        <p:spPr>
          <a:xfrm>
            <a:off x="8293607" y="5404103"/>
            <a:ext cx="3447290" cy="558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r>
              <a:t>FIZI is the only solution delivering real-time AI form correction + social gamification + a gym booking marketplace at an affordable price — on any smartphone.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 txBox="1"/>
          <p:nvPr/>
        </p:nvSpPr>
        <p:spPr>
          <a:xfrm>
            <a:off x="661474" y="541833"/>
            <a:ext cx="10340164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35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Phase 1 Monetization: High-Margin Consumer SaaS</a:t>
            </a:r>
          </a:p>
        </p:txBody>
      </p:sp>
      <p:sp>
        <p:nvSpPr>
          <p:cNvPr id="151" name="Text 1"/>
          <p:cNvSpPr txBox="1"/>
          <p:nvPr/>
        </p:nvSpPr>
        <p:spPr>
          <a:xfrm>
            <a:off x="661474" y="1448295"/>
            <a:ext cx="5699089" cy="219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0000"/>
              </a:lnSpc>
              <a:defRPr sz="1400" i="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Freemium viral flywheel → FIZI Pro subscriptions → 88%+ gross margin</a:t>
            </a:r>
          </a:p>
        </p:txBody>
      </p:sp>
      <p:sp>
        <p:nvSpPr>
          <p:cNvPr id="152" name="Shape 2"/>
          <p:cNvSpPr/>
          <p:nvPr/>
        </p:nvSpPr>
        <p:spPr>
          <a:xfrm>
            <a:off x="661474" y="1922958"/>
            <a:ext cx="10868747" cy="3015160"/>
          </a:xfrm>
          <a:prstGeom prst="roundRect">
            <a:avLst>
              <a:gd name="adj" fmla="val 896"/>
            </a:avLst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Shape 3"/>
          <p:cNvSpPr/>
          <p:nvPr/>
        </p:nvSpPr>
        <p:spPr>
          <a:xfrm>
            <a:off x="661475" y="1922958"/>
            <a:ext cx="3622883" cy="3015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134" y="21600"/>
                </a:lnTo>
                <a:cubicBezTo>
                  <a:pt x="60" y="21600"/>
                  <a:pt x="0" y="21528"/>
                  <a:pt x="0" y="21439"/>
                </a:cubicBezTo>
                <a:lnTo>
                  <a:pt x="0" y="161"/>
                </a:lnTo>
                <a:cubicBezTo>
                  <a:pt x="0" y="72"/>
                  <a:pt x="60" y="0"/>
                  <a:pt x="134" y="0"/>
                </a:cubicBezTo>
                <a:close/>
              </a:path>
            </a:pathLst>
          </a:cu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" name="Text 4"/>
          <p:cNvSpPr txBox="1"/>
          <p:nvPr/>
        </p:nvSpPr>
        <p:spPr>
          <a:xfrm>
            <a:off x="841552" y="2103041"/>
            <a:ext cx="147586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1700"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🆓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FREE TIER</a:t>
            </a:r>
          </a:p>
        </p:txBody>
      </p:sp>
      <p:sp>
        <p:nvSpPr>
          <p:cNvPr id="155" name="Text 5"/>
          <p:cNvSpPr txBox="1"/>
          <p:nvPr/>
        </p:nvSpPr>
        <p:spPr>
          <a:xfrm>
            <a:off x="841552" y="2487513"/>
            <a:ext cx="3262727" cy="2270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300+ exercise library (5 categories)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Live AI camera form coach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Manual workout logging &amp; history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Basic habit streak tracking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Community feed, posts &amp; likes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Explore other users &amp; follow</a:t>
            </a:r>
          </a:p>
        </p:txBody>
      </p:sp>
      <p:sp>
        <p:nvSpPr>
          <p:cNvPr id="156" name="Shape 6"/>
          <p:cNvSpPr/>
          <p:nvPr/>
        </p:nvSpPr>
        <p:spPr>
          <a:xfrm>
            <a:off x="4284357" y="1922958"/>
            <a:ext cx="3622883" cy="3015160"/>
          </a:xfrm>
          <a:prstGeom prst="rect">
            <a:avLst/>
          </a:pr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Shape 7"/>
          <p:cNvSpPr/>
          <p:nvPr/>
        </p:nvSpPr>
        <p:spPr>
          <a:xfrm>
            <a:off x="4284357" y="1922958"/>
            <a:ext cx="25400" cy="3015160"/>
          </a:xfrm>
          <a:prstGeom prst="roundRect">
            <a:avLst>
              <a:gd name="adj" fmla="val 50000"/>
            </a:avLst>
          </a:prstGeom>
          <a:solidFill>
            <a:srgbClr val="65696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Text 8"/>
          <p:cNvSpPr txBox="1"/>
          <p:nvPr/>
        </p:nvSpPr>
        <p:spPr>
          <a:xfrm>
            <a:off x="4464434" y="2103041"/>
            <a:ext cx="217985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1700"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⚡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PRO QUARTERLY</a:t>
            </a:r>
          </a:p>
        </p:txBody>
      </p:sp>
      <p:sp>
        <p:nvSpPr>
          <p:cNvPr id="159" name="Text 9"/>
          <p:cNvSpPr txBox="1"/>
          <p:nvPr/>
        </p:nvSpPr>
        <p:spPr>
          <a:xfrm>
            <a:off x="4464434" y="2487513"/>
            <a:ext cx="160890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0000"/>
              </a:lnSpc>
              <a:defRPr sz="1400" b="1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Rs.299 / ~USD 4.00</a:t>
            </a:r>
          </a:p>
        </p:txBody>
      </p:sp>
      <p:sp>
        <p:nvSpPr>
          <p:cNvPr id="160" name="Text 10"/>
          <p:cNvSpPr txBox="1"/>
          <p:nvPr/>
        </p:nvSpPr>
        <p:spPr>
          <a:xfrm>
            <a:off x="4464434" y="2871985"/>
            <a:ext cx="3262727" cy="1647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Smart nutrition &amp; macro planner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Priority AI coach access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Head-to-head friend comparison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Unlimited custom weekly routines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Full analytics dashboard</a:t>
            </a:r>
          </a:p>
        </p:txBody>
      </p:sp>
      <p:sp>
        <p:nvSpPr>
          <p:cNvPr id="161" name="Shape 11"/>
          <p:cNvSpPr/>
          <p:nvPr/>
        </p:nvSpPr>
        <p:spPr>
          <a:xfrm>
            <a:off x="7907239" y="1922958"/>
            <a:ext cx="3622883" cy="30151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466" y="0"/>
                </a:lnTo>
                <a:cubicBezTo>
                  <a:pt x="21540" y="0"/>
                  <a:pt x="21600" y="72"/>
                  <a:pt x="21600" y="161"/>
                </a:cubicBezTo>
                <a:lnTo>
                  <a:pt x="21600" y="21439"/>
                </a:lnTo>
                <a:cubicBezTo>
                  <a:pt x="21600" y="21528"/>
                  <a:pt x="21540" y="21600"/>
                  <a:pt x="21466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4C5052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Shape 12"/>
          <p:cNvSpPr/>
          <p:nvPr/>
        </p:nvSpPr>
        <p:spPr>
          <a:xfrm>
            <a:off x="7907239" y="1922958"/>
            <a:ext cx="25400" cy="3015160"/>
          </a:xfrm>
          <a:prstGeom prst="roundRect">
            <a:avLst>
              <a:gd name="adj" fmla="val 50000"/>
            </a:avLst>
          </a:prstGeom>
          <a:solidFill>
            <a:srgbClr val="65696B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Text 13"/>
          <p:cNvSpPr txBox="1"/>
          <p:nvPr/>
        </p:nvSpPr>
        <p:spPr>
          <a:xfrm>
            <a:off x="8087315" y="2103041"/>
            <a:ext cx="1743944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4000"/>
              </a:lnSpc>
              <a:defRPr sz="1700">
                <a:latin typeface="Twemoji Mozilla"/>
                <a:ea typeface="Twemoji Mozilla"/>
                <a:cs typeface="Twemoji Mozilla"/>
                <a:sym typeface="Twemoji Mozilla"/>
              </a:defRPr>
            </a:pPr>
            <a:r>
              <a:t>🏆</a:t>
            </a:r>
            <a:r>
              <a: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PRO ANNUAL</a:t>
            </a:r>
          </a:p>
        </p:txBody>
      </p:sp>
      <p:sp>
        <p:nvSpPr>
          <p:cNvPr id="164" name="Text 14"/>
          <p:cNvSpPr txBox="1"/>
          <p:nvPr/>
        </p:nvSpPr>
        <p:spPr>
          <a:xfrm>
            <a:off x="8087315" y="2487513"/>
            <a:ext cx="175727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0000"/>
              </a:lnSpc>
              <a:defRPr sz="1400" b="1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r>
              <a:t>Rs.799 / ~USD 15–25</a:t>
            </a:r>
          </a:p>
        </p:txBody>
      </p:sp>
      <p:sp>
        <p:nvSpPr>
          <p:cNvPr id="165" name="Text 15"/>
          <p:cNvSpPr txBox="1"/>
          <p:nvPr/>
        </p:nvSpPr>
        <p:spPr>
          <a:xfrm>
            <a:off x="8087315" y="2871985"/>
            <a:ext cx="3262727" cy="1868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Auto-adaptive AI workout plans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Advanced body composition metrics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Early access to Phase 2 gym passes</a:t>
            </a:r>
          </a:p>
          <a:p>
            <a:pPr marL="284479" indent="-284479">
              <a:lnSpc>
                <a:spcPct val="130000"/>
              </a:lnSpc>
              <a:buSzPct val="100000"/>
              <a:buChar char="•"/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All Pro Quarterly features included</a:t>
            </a:r>
          </a:p>
        </p:txBody>
      </p:sp>
      <p:sp>
        <p:nvSpPr>
          <p:cNvPr id="166" name="Text 16"/>
          <p:cNvSpPr txBox="1"/>
          <p:nvPr/>
        </p:nvSpPr>
        <p:spPr>
          <a:xfrm>
            <a:off x="1639821" y="5221287"/>
            <a:ext cx="1523120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sz="46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88%+</a:t>
            </a:r>
          </a:p>
        </p:txBody>
      </p:sp>
      <p:sp>
        <p:nvSpPr>
          <p:cNvPr id="167" name="Text 17"/>
          <p:cNvSpPr txBox="1"/>
          <p:nvPr/>
        </p:nvSpPr>
        <p:spPr>
          <a:xfrm>
            <a:off x="1291178" y="6034583"/>
            <a:ext cx="222040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7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Software Gross Margin</a:t>
            </a:r>
          </a:p>
        </p:txBody>
      </p:sp>
      <p:sp>
        <p:nvSpPr>
          <p:cNvPr id="168" name="Text 18"/>
          <p:cNvSpPr txBox="1"/>
          <p:nvPr/>
        </p:nvSpPr>
        <p:spPr>
          <a:xfrm>
            <a:off x="5602091" y="5221287"/>
            <a:ext cx="987414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sz="46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$18</a:t>
            </a:r>
          </a:p>
        </p:txBody>
      </p:sp>
      <p:sp>
        <p:nvSpPr>
          <p:cNvPr id="169" name="Text 19"/>
          <p:cNvSpPr txBox="1"/>
          <p:nvPr/>
        </p:nvSpPr>
        <p:spPr>
          <a:xfrm>
            <a:off x="5063079" y="6034583"/>
            <a:ext cx="206543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7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Blended ARPU / Year</a:t>
            </a:r>
          </a:p>
        </p:txBody>
      </p:sp>
      <p:sp>
        <p:nvSpPr>
          <p:cNvPr id="170" name="Text 20"/>
          <p:cNvSpPr txBox="1"/>
          <p:nvPr/>
        </p:nvSpPr>
        <p:spPr>
          <a:xfrm>
            <a:off x="9377854" y="5221287"/>
            <a:ext cx="824819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sz="46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9:1</a:t>
            </a:r>
          </a:p>
        </p:txBody>
      </p:sp>
      <p:sp>
        <p:nvSpPr>
          <p:cNvPr id="171" name="Text 21"/>
          <p:cNvSpPr txBox="1"/>
          <p:nvPr/>
        </p:nvSpPr>
        <p:spPr>
          <a:xfrm>
            <a:off x="8933965" y="6034583"/>
            <a:ext cx="171259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7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LTV to CAC Ratio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661474" y="519806"/>
            <a:ext cx="4004693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8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Pricing &amp; Unit Economics</a:t>
            </a:r>
          </a:p>
        </p:txBody>
      </p:sp>
      <p:pic>
        <p:nvPicPr>
          <p:cNvPr id="17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66" y="1198668"/>
            <a:ext cx="5202254" cy="5202384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1"/>
          <p:cNvSpPr txBox="1"/>
          <p:nvPr/>
        </p:nvSpPr>
        <p:spPr>
          <a:xfrm>
            <a:off x="6787898" y="882850"/>
            <a:ext cx="29158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20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Why the Economics Work</a:t>
            </a:r>
          </a:p>
        </p:txBody>
      </p:sp>
      <p:sp>
        <p:nvSpPr>
          <p:cNvPr id="176" name="Text 2"/>
          <p:cNvSpPr txBox="1"/>
          <p:nvPr/>
        </p:nvSpPr>
        <p:spPr>
          <a:xfrm>
            <a:off x="6863704" y="1393534"/>
            <a:ext cx="4155531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FIZI's software-first model means near-zero marginal cost per user. The freemium flywheel drives organic acquisition while Pro conversions generate compounding recurring revenue.</a:t>
            </a:r>
          </a:p>
        </p:txBody>
      </p:sp>
      <p:graphicFrame>
        <p:nvGraphicFramePr>
          <p:cNvPr id="177" name="Table 0"/>
          <p:cNvGraphicFramePr/>
          <p:nvPr/>
        </p:nvGraphicFramePr>
        <p:xfrm>
          <a:off x="6830066" y="2810207"/>
          <a:ext cx="4222806" cy="225452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111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6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Metric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Value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12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Software Gross Margin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>
                          <a:solidFill>
                            <a:srgbClr val="006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88%+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Blended ARPU / Year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USD 18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LTV : CAC Ratio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b="1">
                          <a:solidFill>
                            <a:srgbClr val="0066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 : 1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 Quarterly Price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Rs.299 (~USD 4.00)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 Annual Price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5F6264"/>
                      </a:solidFill>
                    </a:lnL>
                    <a:lnR w="12700">
                      <a:solidFill>
                        <a:srgbClr val="2D3133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D6D9D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Rs.799 (~USD 15–25)</a:t>
                      </a:r>
                    </a:p>
                  </a:txBody>
                  <a:tcPr marL="6350" marR="6350" marT="6350" marB="6350" anchor="ctr" horzOverflow="overflow">
                    <a:lnL w="12700">
                      <a:solidFill>
                        <a:srgbClr val="2D3133"/>
                      </a:solidFill>
                    </a:lnL>
                    <a:lnR w="12700">
                      <a:solidFill>
                        <a:srgbClr val="5F6264"/>
                      </a:solidFill>
                    </a:lnR>
                    <a:lnT w="12700">
                      <a:solidFill>
                        <a:srgbClr val="5F6264"/>
                      </a:solidFill>
                    </a:lnT>
                    <a:lnB w="12700">
                      <a:solidFill>
                        <a:srgbClr val="5F6264"/>
                      </a:solidFill>
                    </a:lnB>
                    <a:solidFill>
                      <a:srgbClr val="2D31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F5F0BEA5-C82B-27C9-C078-0B99AD9F768A}"/>
              </a:ext>
            </a:extLst>
          </p:cNvPr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Marketing Moat: Zero-CAC Ground Acquisition</a:t>
            </a:r>
            <a:endParaRPr lang="en-US" sz="185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46A496EC-0C43-089B-B8BD-484FEA9F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576" y="1276748"/>
            <a:ext cx="3474645" cy="3474732"/>
          </a:xfrm>
          <a:prstGeom prst="rect">
            <a:avLst/>
          </a:prstGeom>
        </p:spPr>
      </p:pic>
      <p:sp>
        <p:nvSpPr>
          <p:cNvPr id="61" name="Shape 2">
            <a:extLst>
              <a:ext uri="{FF2B5EF4-FFF2-40B4-BE49-F238E27FC236}">
                <a16:creationId xmlns:a16="http://schemas.microsoft.com/office/drawing/2014/main" id="{B92BE7B6-AD85-52B4-6AB4-D0B6914A3CE7}"/>
              </a:ext>
            </a:extLst>
          </p:cNvPr>
          <p:cNvSpPr/>
          <p:nvPr/>
        </p:nvSpPr>
        <p:spPr>
          <a:xfrm>
            <a:off x="885704" y="5013496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D3FC807A-4FAC-B9EA-FECB-393B6B5E7D28}"/>
              </a:ext>
            </a:extLst>
          </p:cNvPr>
          <p:cNvSpPr/>
          <p:nvPr/>
        </p:nvSpPr>
        <p:spPr>
          <a:xfrm>
            <a:off x="921124" y="5031157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400" dirty="0"/>
          </a:p>
        </p:txBody>
      </p:sp>
      <p:sp>
        <p:nvSpPr>
          <p:cNvPr id="129" name="Text 4">
            <a:extLst>
              <a:ext uri="{FF2B5EF4-FFF2-40B4-BE49-F238E27FC236}">
                <a16:creationId xmlns:a16="http://schemas.microsoft.com/office/drawing/2014/main" id="{EB046480-34AF-025D-2BA4-6634FBC210CE}"/>
              </a:ext>
            </a:extLst>
          </p:cNvPr>
          <p:cNvSpPr/>
          <p:nvPr/>
        </p:nvSpPr>
        <p:spPr>
          <a:xfrm>
            <a:off x="1145551" y="5045941"/>
            <a:ext cx="56141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Onboard Partner Gyms</a:t>
            </a:r>
            <a:endParaRPr lang="en-US" sz="1400" dirty="0"/>
          </a:p>
        </p:txBody>
      </p:sp>
      <p:sp>
        <p:nvSpPr>
          <p:cNvPr id="131" name="Shape 5">
            <a:extLst>
              <a:ext uri="{FF2B5EF4-FFF2-40B4-BE49-F238E27FC236}">
                <a16:creationId xmlns:a16="http://schemas.microsoft.com/office/drawing/2014/main" id="{0FBF1A33-3784-953C-BB6D-B7FEDC697F2F}"/>
              </a:ext>
            </a:extLst>
          </p:cNvPr>
          <p:cNvSpPr/>
          <p:nvPr/>
        </p:nvSpPr>
        <p:spPr>
          <a:xfrm>
            <a:off x="885704" y="5320578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33" name="Text 6">
            <a:extLst>
              <a:ext uri="{FF2B5EF4-FFF2-40B4-BE49-F238E27FC236}">
                <a16:creationId xmlns:a16="http://schemas.microsoft.com/office/drawing/2014/main" id="{98239A9F-C725-DA45-17C8-56188CA53FDE}"/>
              </a:ext>
            </a:extLst>
          </p:cNvPr>
          <p:cNvSpPr/>
          <p:nvPr/>
        </p:nvSpPr>
        <p:spPr>
          <a:xfrm>
            <a:off x="921124" y="533823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400" dirty="0"/>
          </a:p>
        </p:txBody>
      </p:sp>
      <p:sp>
        <p:nvSpPr>
          <p:cNvPr id="135" name="Text 7">
            <a:extLst>
              <a:ext uri="{FF2B5EF4-FFF2-40B4-BE49-F238E27FC236}">
                <a16:creationId xmlns:a16="http://schemas.microsoft.com/office/drawing/2014/main" id="{B53E0A82-08D7-87B9-FBAE-47CFB76AC35C}"/>
              </a:ext>
            </a:extLst>
          </p:cNvPr>
          <p:cNvSpPr/>
          <p:nvPr/>
        </p:nvSpPr>
        <p:spPr>
          <a:xfrm>
            <a:off x="1145551" y="5353023"/>
            <a:ext cx="56141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Upgrade to Pro Passes</a:t>
            </a:r>
            <a:endParaRPr lang="en-US" sz="1400" dirty="0"/>
          </a:p>
        </p:txBody>
      </p:sp>
      <p:sp>
        <p:nvSpPr>
          <p:cNvPr id="137" name="Shape 8">
            <a:extLst>
              <a:ext uri="{FF2B5EF4-FFF2-40B4-BE49-F238E27FC236}">
                <a16:creationId xmlns:a16="http://schemas.microsoft.com/office/drawing/2014/main" id="{5CB9B2F7-C1F1-4E79-796D-4A062B22E391}"/>
              </a:ext>
            </a:extLst>
          </p:cNvPr>
          <p:cNvSpPr/>
          <p:nvPr/>
        </p:nvSpPr>
        <p:spPr>
          <a:xfrm>
            <a:off x="885704" y="5627660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39" name="Text 9">
            <a:extLst>
              <a:ext uri="{FF2B5EF4-FFF2-40B4-BE49-F238E27FC236}">
                <a16:creationId xmlns:a16="http://schemas.microsoft.com/office/drawing/2014/main" id="{9662C9A8-C2A7-E660-1039-42132DEF29A7}"/>
              </a:ext>
            </a:extLst>
          </p:cNvPr>
          <p:cNvSpPr/>
          <p:nvPr/>
        </p:nvSpPr>
        <p:spPr>
          <a:xfrm>
            <a:off x="921124" y="5645321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400" dirty="0"/>
          </a:p>
        </p:txBody>
      </p:sp>
      <p:sp>
        <p:nvSpPr>
          <p:cNvPr id="141" name="Text 10">
            <a:extLst>
              <a:ext uri="{FF2B5EF4-FFF2-40B4-BE49-F238E27FC236}">
                <a16:creationId xmlns:a16="http://schemas.microsoft.com/office/drawing/2014/main" id="{485EA32D-BDC3-2746-A7E8-55FDAFC0A916}"/>
              </a:ext>
            </a:extLst>
          </p:cNvPr>
          <p:cNvSpPr/>
          <p:nvPr/>
        </p:nvSpPr>
        <p:spPr>
          <a:xfrm>
            <a:off x="1145551" y="5660105"/>
            <a:ext cx="56141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QR Codes on Mirrors</a:t>
            </a:r>
            <a:endParaRPr lang="en-US" sz="1400" dirty="0"/>
          </a:p>
        </p:txBody>
      </p:sp>
      <p:sp>
        <p:nvSpPr>
          <p:cNvPr id="143" name="Shape 11">
            <a:extLst>
              <a:ext uri="{FF2B5EF4-FFF2-40B4-BE49-F238E27FC236}">
                <a16:creationId xmlns:a16="http://schemas.microsoft.com/office/drawing/2014/main" id="{3AAAFD00-C89E-AAFD-56AF-1BD714D5E7AA}"/>
              </a:ext>
            </a:extLst>
          </p:cNvPr>
          <p:cNvSpPr/>
          <p:nvPr/>
        </p:nvSpPr>
        <p:spPr>
          <a:xfrm>
            <a:off x="885704" y="5934742"/>
            <a:ext cx="212620" cy="212626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5" name="Text 12">
            <a:extLst>
              <a:ext uri="{FF2B5EF4-FFF2-40B4-BE49-F238E27FC236}">
                <a16:creationId xmlns:a16="http://schemas.microsoft.com/office/drawing/2014/main" id="{DC0B15E1-7608-8A2C-48EA-908B79470771}"/>
              </a:ext>
            </a:extLst>
          </p:cNvPr>
          <p:cNvSpPr/>
          <p:nvPr/>
        </p:nvSpPr>
        <p:spPr>
          <a:xfrm>
            <a:off x="921124" y="5952403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400" dirty="0"/>
          </a:p>
        </p:txBody>
      </p:sp>
      <p:sp>
        <p:nvSpPr>
          <p:cNvPr id="147" name="Text 13">
            <a:extLst>
              <a:ext uri="{FF2B5EF4-FFF2-40B4-BE49-F238E27FC236}">
                <a16:creationId xmlns:a16="http://schemas.microsoft.com/office/drawing/2014/main" id="{3F1F0FC4-99A2-79D3-12EA-27F68ECD52B6}"/>
              </a:ext>
            </a:extLst>
          </p:cNvPr>
          <p:cNvSpPr/>
          <p:nvPr/>
        </p:nvSpPr>
        <p:spPr>
          <a:xfrm>
            <a:off x="1145551" y="5967187"/>
            <a:ext cx="56141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Gym Members</a:t>
            </a:r>
            <a:endParaRPr lang="en-US" sz="1400" dirty="0"/>
          </a:p>
        </p:txBody>
      </p:sp>
      <p:sp>
        <p:nvSpPr>
          <p:cNvPr id="149" name="Text 14">
            <a:extLst>
              <a:ext uri="{FF2B5EF4-FFF2-40B4-BE49-F238E27FC236}">
                <a16:creationId xmlns:a16="http://schemas.microsoft.com/office/drawing/2014/main" id="{D3FD1DCB-0A4C-DE0E-C733-F9E3A6F207E9}"/>
              </a:ext>
            </a:extLst>
          </p:cNvPr>
          <p:cNvSpPr/>
          <p:nvPr/>
        </p:nvSpPr>
        <p:spPr>
          <a:xfrm>
            <a:off x="6379163" y="1252862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FIZI's Unfair Acquisition Advantages</a:t>
            </a:r>
            <a:endParaRPr lang="en-US" dirty="0"/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D325EE75-BB2B-DF64-CBDF-211B4E3255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6463" y="1786894"/>
            <a:ext cx="4776767" cy="447080"/>
          </a:xfrm>
          <a:prstGeom prst="rect">
            <a:avLst/>
          </a:prstGeom>
        </p:spPr>
      </p:pic>
      <p:sp>
        <p:nvSpPr>
          <p:cNvPr id="153" name="Text 15">
            <a:extLst>
              <a:ext uri="{FF2B5EF4-FFF2-40B4-BE49-F238E27FC236}">
                <a16:creationId xmlns:a16="http://schemas.microsoft.com/office/drawing/2014/main" id="{0CF03920-24BE-DD9A-4FEC-B993E270E0CC}"/>
              </a:ext>
            </a:extLst>
          </p:cNvPr>
          <p:cNvSpPr/>
          <p:nvPr/>
        </p:nvSpPr>
        <p:spPr>
          <a:xfrm>
            <a:off x="6499015" y="1799594"/>
            <a:ext cx="464421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Mirror &amp; Equipment QR Codes</a:t>
            </a:r>
            <a:endParaRPr lang="en-US" sz="1200" dirty="0"/>
          </a:p>
        </p:txBody>
      </p:sp>
      <p:sp>
        <p:nvSpPr>
          <p:cNvPr id="155" name="Text 16">
            <a:extLst>
              <a:ext uri="{FF2B5EF4-FFF2-40B4-BE49-F238E27FC236}">
                <a16:creationId xmlns:a16="http://schemas.microsoft.com/office/drawing/2014/main" id="{5D16689C-E406-457A-5FA4-F6F27D29BD95}"/>
              </a:ext>
            </a:extLst>
          </p:cNvPr>
          <p:cNvSpPr/>
          <p:nvPr/>
        </p:nvSpPr>
        <p:spPr>
          <a:xfrm>
            <a:off x="6499015" y="1994459"/>
            <a:ext cx="4644214" cy="59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FIZI - Scan to check your squat form. QR decals on mirrors, barbell racks, and cable machines. Every piece of equipment becomes a zero-cost FIZI acquisition touchpoint.</a:t>
            </a:r>
            <a:endParaRPr lang="en-US" sz="1200" dirty="0"/>
          </a:p>
        </p:txBody>
      </p:sp>
      <p:pic>
        <p:nvPicPr>
          <p:cNvPr id="157" name="Image 2" descr="preencoded.png">
            <a:extLst>
              <a:ext uri="{FF2B5EF4-FFF2-40B4-BE49-F238E27FC236}">
                <a16:creationId xmlns:a16="http://schemas.microsoft.com/office/drawing/2014/main" id="{BC734806-7D5A-89A5-5B14-5BE6B3648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6464" y="2637106"/>
            <a:ext cx="4776767" cy="447080"/>
          </a:xfrm>
          <a:prstGeom prst="rect">
            <a:avLst/>
          </a:prstGeom>
        </p:spPr>
      </p:pic>
      <p:sp>
        <p:nvSpPr>
          <p:cNvPr id="159" name="Text 17">
            <a:extLst>
              <a:ext uri="{FF2B5EF4-FFF2-40B4-BE49-F238E27FC236}">
                <a16:creationId xmlns:a16="http://schemas.microsoft.com/office/drawing/2014/main" id="{467A5F5F-C3D7-FBAA-DF53-E40D1DC3141B}"/>
              </a:ext>
            </a:extLst>
          </p:cNvPr>
          <p:cNvSpPr/>
          <p:nvPr/>
        </p:nvSpPr>
        <p:spPr>
          <a:xfrm>
            <a:off x="6499016" y="2649806"/>
            <a:ext cx="464421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Front-Desk Digital Check-In</a:t>
            </a:r>
            <a:endParaRPr lang="en-US" sz="1200" dirty="0"/>
          </a:p>
        </p:txBody>
      </p:sp>
      <p:sp>
        <p:nvSpPr>
          <p:cNvPr id="161" name="Text 18">
            <a:extLst>
              <a:ext uri="{FF2B5EF4-FFF2-40B4-BE49-F238E27FC236}">
                <a16:creationId xmlns:a16="http://schemas.microsoft.com/office/drawing/2014/main" id="{9C792030-C7C0-A3F4-0950-66CC453DD8E2}"/>
              </a:ext>
            </a:extLst>
          </p:cNvPr>
          <p:cNvSpPr/>
          <p:nvPr/>
        </p:nvSpPr>
        <p:spPr>
          <a:xfrm>
            <a:off x="6499016" y="2844672"/>
            <a:ext cx="464421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 replace paper sign-in sheets with FIZI digital passes. Every check-in surfaces a personalised workout recommendation, nudging gym-goers to upgrade to FIZI Pro.</a:t>
            </a:r>
            <a:endParaRPr lang="en-US" sz="1200" dirty="0"/>
          </a:p>
        </p:txBody>
      </p:sp>
      <p:pic>
        <p:nvPicPr>
          <p:cNvPr id="163" name="Image 3" descr="preencoded.png">
            <a:extLst>
              <a:ext uri="{FF2B5EF4-FFF2-40B4-BE49-F238E27FC236}">
                <a16:creationId xmlns:a16="http://schemas.microsoft.com/office/drawing/2014/main" id="{AEFE57D8-0A62-3B95-AF75-1A7C8CC2F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9164" y="3613476"/>
            <a:ext cx="4776767" cy="447080"/>
          </a:xfrm>
          <a:prstGeom prst="rect">
            <a:avLst/>
          </a:prstGeom>
        </p:spPr>
      </p:pic>
      <p:sp>
        <p:nvSpPr>
          <p:cNvPr id="165" name="Text 19">
            <a:extLst>
              <a:ext uri="{FF2B5EF4-FFF2-40B4-BE49-F238E27FC236}">
                <a16:creationId xmlns:a16="http://schemas.microsoft.com/office/drawing/2014/main" id="{C4A3ABB7-E10F-4E6D-875B-D5D67FC9F166}"/>
              </a:ext>
            </a:extLst>
          </p:cNvPr>
          <p:cNvSpPr/>
          <p:nvPr/>
        </p:nvSpPr>
        <p:spPr>
          <a:xfrm>
            <a:off x="6511716" y="3626176"/>
            <a:ext cx="464421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Slashes CAC by 70%+</a:t>
            </a:r>
            <a:endParaRPr lang="en-US" sz="1200" dirty="0"/>
          </a:p>
        </p:txBody>
      </p:sp>
      <p:sp>
        <p:nvSpPr>
          <p:cNvPr id="167" name="Text 20">
            <a:extLst>
              <a:ext uri="{FF2B5EF4-FFF2-40B4-BE49-F238E27FC236}">
                <a16:creationId xmlns:a16="http://schemas.microsoft.com/office/drawing/2014/main" id="{7599F8B3-AA29-1BD5-B0D0-79F822195CD7}"/>
              </a:ext>
            </a:extLst>
          </p:cNvPr>
          <p:cNvSpPr/>
          <p:nvPr/>
        </p:nvSpPr>
        <p:spPr>
          <a:xfrm>
            <a:off x="6511716" y="3821041"/>
            <a:ext cx="4776766" cy="64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fitness apps pay USD 8-30 per install on Meta and Google. FIZI acquires high-intent, active athletes directly on the gym floor at virtually USD 0 CAC — a structural, defensible moat.</a:t>
            </a:r>
            <a:endParaRPr lang="en-US" sz="1200" dirty="0"/>
          </a:p>
        </p:txBody>
      </p:sp>
      <p:pic>
        <p:nvPicPr>
          <p:cNvPr id="169" name="Image 4" descr="preencoded.png">
            <a:extLst>
              <a:ext uri="{FF2B5EF4-FFF2-40B4-BE49-F238E27FC236}">
                <a16:creationId xmlns:a16="http://schemas.microsoft.com/office/drawing/2014/main" id="{F584A2DB-26D5-42D1-AD86-93B7C7D11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9163" y="4548848"/>
            <a:ext cx="4776767" cy="447080"/>
          </a:xfrm>
          <a:prstGeom prst="rect">
            <a:avLst/>
          </a:prstGeom>
        </p:spPr>
      </p:pic>
      <p:sp>
        <p:nvSpPr>
          <p:cNvPr id="171" name="Text 21">
            <a:extLst>
              <a:ext uri="{FF2B5EF4-FFF2-40B4-BE49-F238E27FC236}">
                <a16:creationId xmlns:a16="http://schemas.microsoft.com/office/drawing/2014/main" id="{66952E92-B8E1-ADF4-FE20-D4864B7774C1}"/>
              </a:ext>
            </a:extLst>
          </p:cNvPr>
          <p:cNvSpPr/>
          <p:nvPr/>
        </p:nvSpPr>
        <p:spPr>
          <a:xfrm>
            <a:off x="6511715" y="4561548"/>
            <a:ext cx="464421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Self-Reinforcing Growth Loop</a:t>
            </a:r>
            <a:endParaRPr lang="en-US" sz="1200" dirty="0"/>
          </a:p>
        </p:txBody>
      </p:sp>
      <p:sp>
        <p:nvSpPr>
          <p:cNvPr id="173" name="Text 22">
            <a:extLst>
              <a:ext uri="{FF2B5EF4-FFF2-40B4-BE49-F238E27FC236}">
                <a16:creationId xmlns:a16="http://schemas.microsoft.com/office/drawing/2014/main" id="{EB559A89-3BDF-D09A-D953-0BB96252D6B9}"/>
              </a:ext>
            </a:extLst>
          </p:cNvPr>
          <p:cNvSpPr/>
          <p:nvPr/>
        </p:nvSpPr>
        <p:spPr>
          <a:xfrm>
            <a:off x="6511715" y="4756414"/>
            <a:ext cx="464421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gyms &gt; more free downloads &gt; more FIZI Pro upgrades &gt; more gym pass bookings &gt; more gym partners want to join. The flywheel compounds at scale.</a:t>
            </a:r>
            <a:endParaRPr lang="en-US" sz="1200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 txBox="1"/>
          <p:nvPr/>
        </p:nvSpPr>
        <p:spPr>
          <a:xfrm>
            <a:off x="661474" y="561975"/>
            <a:ext cx="10868747" cy="1181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04000"/>
              </a:lnSpc>
              <a:defRPr sz="37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Scaling — Phase 2: Decentralized Gym Marketplace</a:t>
            </a:r>
          </a:p>
        </p:txBody>
      </p:sp>
      <p:pic>
        <p:nvPicPr>
          <p:cNvPr id="2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4" y="2636341"/>
            <a:ext cx="3622883" cy="756048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Text 2"/>
          <p:cNvSpPr txBox="1"/>
          <p:nvPr/>
        </p:nvSpPr>
        <p:spPr>
          <a:xfrm>
            <a:off x="850481" y="3581400"/>
            <a:ext cx="2358865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ATHLETE / USER APP</a:t>
            </a:r>
          </a:p>
        </p:txBody>
      </p:sp>
      <p:sp>
        <p:nvSpPr>
          <p:cNvPr id="210" name="Text 3"/>
          <p:cNvSpPr txBox="1"/>
          <p:nvPr/>
        </p:nvSpPr>
        <p:spPr>
          <a:xfrm>
            <a:off x="850481" y="3990081"/>
            <a:ext cx="3244870" cy="1814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Users discover, compare, and book monthly memberships or single day-passes at hundreds of local partner gyms — all directly within the FIZI app. One pass. Multiple gyms. Maximum flexibility.</a:t>
            </a:r>
          </a:p>
        </p:txBody>
      </p:sp>
      <p:pic>
        <p:nvPicPr>
          <p:cNvPr id="21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357" y="2636341"/>
            <a:ext cx="3622883" cy="756048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Text 4"/>
          <p:cNvSpPr txBox="1"/>
          <p:nvPr/>
        </p:nvSpPr>
        <p:spPr>
          <a:xfrm>
            <a:off x="4473364" y="3581400"/>
            <a:ext cx="2184736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FIZI MARKETPLACE</a:t>
            </a:r>
          </a:p>
        </p:txBody>
      </p:sp>
      <p:sp>
        <p:nvSpPr>
          <p:cNvPr id="213" name="Text 5"/>
          <p:cNvSpPr txBox="1"/>
          <p:nvPr/>
        </p:nvSpPr>
        <p:spPr>
          <a:xfrm>
            <a:off x="4473364" y="3990082"/>
            <a:ext cx="3244869" cy="2116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FIZI retains a 10%-15% take-rate on every booking. Average membership: Rs.2,000/month (~USD 25). FIZI net: ~Rs.250-300 (~USD 3.12) per active booking. No inventory risk. No equipment purchase. Zero capex.</a:t>
            </a:r>
          </a:p>
        </p:txBody>
      </p:sp>
      <p:pic>
        <p:nvPicPr>
          <p:cNvPr id="21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239" y="2636341"/>
            <a:ext cx="3622883" cy="756048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Text 6"/>
          <p:cNvSpPr txBox="1"/>
          <p:nvPr/>
        </p:nvSpPr>
        <p:spPr>
          <a:xfrm>
            <a:off x="8096246" y="3581400"/>
            <a:ext cx="2900227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PARTNER GYM NETWORK</a:t>
            </a:r>
          </a:p>
        </p:txBody>
      </p:sp>
      <p:sp>
        <p:nvSpPr>
          <p:cNvPr id="216" name="Text 7"/>
          <p:cNvSpPr txBox="1"/>
          <p:nvPr/>
        </p:nvSpPr>
        <p:spPr>
          <a:xfrm>
            <a:off x="8096246" y="3990082"/>
            <a:ext cx="3244869" cy="21169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lnSpc>
                <a:spcPct val="133000"/>
              </a:lnSpc>
              <a:defRPr sz="14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Unlike Cult.fit (which leases studios) or Equinox (capex-heavy), FIZI never owns real estate or buys equipment. We monetize existing, underutilised gym infrastructure and scale purely through software and partnerships.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 txBox="1"/>
          <p:nvPr/>
        </p:nvSpPr>
        <p:spPr>
          <a:xfrm>
            <a:off x="556988" y="346867"/>
            <a:ext cx="49977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Financial Trajectory: 3-Year Multi-Scenario Model</a:t>
            </a:r>
          </a:p>
        </p:txBody>
      </p:sp>
      <p:sp>
        <p:nvSpPr>
          <p:cNvPr id="219" name="Text 1"/>
          <p:cNvSpPr txBox="1"/>
          <p:nvPr/>
        </p:nvSpPr>
        <p:spPr>
          <a:xfrm>
            <a:off x="661474" y="843358"/>
            <a:ext cx="596895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 i="1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Compounding App SaaS ARR + Gym Marketplace Commission GMV | All values in USD</a:t>
            </a:r>
          </a:p>
        </p:txBody>
      </p:sp>
      <p:pic>
        <p:nvPicPr>
          <p:cNvPr id="2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062" y="1052284"/>
            <a:ext cx="9414058" cy="3245907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2"/>
          <p:cNvSpPr txBox="1"/>
          <p:nvPr/>
        </p:nvSpPr>
        <p:spPr>
          <a:xfrm>
            <a:off x="2650216" y="4211754"/>
            <a:ext cx="102934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sz="24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$4.65M</a:t>
            </a:r>
          </a:p>
        </p:txBody>
      </p:sp>
      <p:sp>
        <p:nvSpPr>
          <p:cNvPr id="222" name="Text 3"/>
          <p:cNvSpPr txBox="1"/>
          <p:nvPr/>
        </p:nvSpPr>
        <p:spPr>
          <a:xfrm>
            <a:off x="2787017" y="4606247"/>
            <a:ext cx="75574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1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Base Target</a:t>
            </a:r>
          </a:p>
        </p:txBody>
      </p:sp>
      <p:sp>
        <p:nvSpPr>
          <p:cNvPr id="223" name="Text 4"/>
          <p:cNvSpPr txBox="1"/>
          <p:nvPr/>
        </p:nvSpPr>
        <p:spPr>
          <a:xfrm>
            <a:off x="2468968" y="4782161"/>
            <a:ext cx="13918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Year 3 revenue outcome</a:t>
            </a:r>
          </a:p>
        </p:txBody>
      </p:sp>
      <p:sp>
        <p:nvSpPr>
          <p:cNvPr id="224" name="Text 5"/>
          <p:cNvSpPr txBox="1"/>
          <p:nvPr/>
        </p:nvSpPr>
        <p:spPr>
          <a:xfrm>
            <a:off x="8376713" y="4211754"/>
            <a:ext cx="504131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sz="24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55x</a:t>
            </a:r>
          </a:p>
        </p:txBody>
      </p:sp>
      <p:sp>
        <p:nvSpPr>
          <p:cNvPr id="225" name="Text 6"/>
          <p:cNvSpPr txBox="1"/>
          <p:nvPr/>
        </p:nvSpPr>
        <p:spPr>
          <a:xfrm>
            <a:off x="8397291" y="4606247"/>
            <a:ext cx="46297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sz="11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Growth</a:t>
            </a:r>
          </a:p>
        </p:txBody>
      </p:sp>
      <p:sp>
        <p:nvSpPr>
          <p:cNvPr id="226" name="Text 7"/>
          <p:cNvSpPr txBox="1"/>
          <p:nvPr/>
        </p:nvSpPr>
        <p:spPr>
          <a:xfrm>
            <a:off x="7785673" y="4782161"/>
            <a:ext cx="168621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Conservative Year 1 to Year 3</a:t>
            </a:r>
          </a:p>
        </p:txBody>
      </p:sp>
      <p:sp>
        <p:nvSpPr>
          <p:cNvPr id="227" name="Text 8"/>
          <p:cNvSpPr txBox="1"/>
          <p:nvPr/>
        </p:nvSpPr>
        <p:spPr>
          <a:xfrm>
            <a:off x="462485" y="4966411"/>
            <a:ext cx="95875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Scenario outlook</a:t>
            </a:r>
          </a:p>
        </p:txBody>
      </p:sp>
      <p:sp>
        <p:nvSpPr>
          <p:cNvPr id="228" name="Image 1"/>
          <p:cNvSpPr/>
          <p:nvPr/>
        </p:nvSpPr>
        <p:spPr>
          <a:xfrm>
            <a:off x="462486" y="5184890"/>
            <a:ext cx="5410759" cy="50363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9" name="Text 9"/>
          <p:cNvSpPr txBox="1"/>
          <p:nvPr/>
        </p:nvSpPr>
        <p:spPr>
          <a:xfrm>
            <a:off x="620438" y="5292047"/>
            <a:ext cx="10574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0066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Conservative case</a:t>
            </a:r>
          </a:p>
        </p:txBody>
      </p:sp>
      <p:sp>
        <p:nvSpPr>
          <p:cNvPr id="230" name="Text 10"/>
          <p:cNvSpPr txBox="1"/>
          <p:nvPr/>
        </p:nvSpPr>
        <p:spPr>
          <a:xfrm>
            <a:off x="620438" y="5467961"/>
            <a:ext cx="370289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dirty="0"/>
              <a:t>Measured adoption with disciplined execution and efficient spend.</a:t>
            </a:r>
          </a:p>
        </p:txBody>
      </p:sp>
      <p:sp>
        <p:nvSpPr>
          <p:cNvPr id="231" name="Image 2"/>
          <p:cNvSpPr/>
          <p:nvPr/>
        </p:nvSpPr>
        <p:spPr>
          <a:xfrm>
            <a:off x="5920471" y="5184890"/>
            <a:ext cx="5410760" cy="50363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32" name="Text 11"/>
          <p:cNvSpPr txBox="1"/>
          <p:nvPr/>
        </p:nvSpPr>
        <p:spPr>
          <a:xfrm>
            <a:off x="6078423" y="5292047"/>
            <a:ext cx="66221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0066FF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Base target</a:t>
            </a:r>
          </a:p>
        </p:txBody>
      </p:sp>
      <p:sp>
        <p:nvSpPr>
          <p:cNvPr id="233" name="Text 12"/>
          <p:cNvSpPr txBox="1"/>
          <p:nvPr/>
        </p:nvSpPr>
        <p:spPr>
          <a:xfrm>
            <a:off x="6078423" y="5467961"/>
            <a:ext cx="459449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Underwrites the proposed USD 2M seed round and scales into $4.65M by Year 3.</a:t>
            </a:r>
          </a:p>
        </p:txBody>
      </p:sp>
      <p:sp>
        <p:nvSpPr>
          <p:cNvPr id="234" name="Text 13"/>
          <p:cNvSpPr txBox="1"/>
          <p:nvPr/>
        </p:nvSpPr>
        <p:spPr>
          <a:xfrm>
            <a:off x="462485" y="5759367"/>
            <a:ext cx="109269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F7F7F8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Milestones to scale</a:t>
            </a:r>
          </a:p>
        </p:txBody>
      </p:sp>
      <p:sp>
        <p:nvSpPr>
          <p:cNvPr id="235" name="Text 14"/>
          <p:cNvSpPr txBox="1"/>
          <p:nvPr/>
        </p:nvSpPr>
        <p:spPr>
          <a:xfrm>
            <a:off x="462486" y="5960682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>
                <a:solidFill>
                  <a:srgbClr val="D6D9D7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</a:lstStyle>
          <a:p>
            <a:r>
              <a:t>01</a:t>
            </a:r>
          </a:p>
        </p:txBody>
      </p:sp>
      <p:sp>
        <p:nvSpPr>
          <p:cNvPr id="236" name="Shape 15"/>
          <p:cNvSpPr/>
          <p:nvPr/>
        </p:nvSpPr>
        <p:spPr>
          <a:xfrm>
            <a:off x="462486" y="6125683"/>
            <a:ext cx="3591431" cy="12701"/>
          </a:xfrm>
          <a:prstGeom prst="rect">
            <a:avLst/>
          </a:prstGeom>
          <a:solidFill>
            <a:srgbClr val="AC9E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7" name="Text 16"/>
          <p:cNvSpPr txBox="1"/>
          <p:nvPr/>
        </p:nvSpPr>
        <p:spPr>
          <a:xfrm>
            <a:off x="462486" y="6198311"/>
            <a:ext cx="3752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Year 1</a:t>
            </a:r>
          </a:p>
        </p:txBody>
      </p:sp>
      <p:sp>
        <p:nvSpPr>
          <p:cNvPr id="238" name="Text 17"/>
          <p:cNvSpPr txBox="1"/>
          <p:nvPr/>
        </p:nvSpPr>
        <p:spPr>
          <a:xfrm>
            <a:off x="462486" y="6374226"/>
            <a:ext cx="327408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Prove product-market fit and establish repeatable traction.</a:t>
            </a:r>
          </a:p>
        </p:txBody>
      </p:sp>
      <p:sp>
        <p:nvSpPr>
          <p:cNvPr id="239" name="Text 18"/>
          <p:cNvSpPr txBox="1"/>
          <p:nvPr/>
        </p:nvSpPr>
        <p:spPr>
          <a:xfrm>
            <a:off x="4101143" y="5960682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>
                <a:solidFill>
                  <a:srgbClr val="D6D9D7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</a:lstStyle>
          <a:p>
            <a:r>
              <a:t>02</a:t>
            </a:r>
          </a:p>
        </p:txBody>
      </p:sp>
      <p:sp>
        <p:nvSpPr>
          <p:cNvPr id="240" name="Shape 19"/>
          <p:cNvSpPr/>
          <p:nvPr/>
        </p:nvSpPr>
        <p:spPr>
          <a:xfrm>
            <a:off x="4101143" y="6125683"/>
            <a:ext cx="3591431" cy="12701"/>
          </a:xfrm>
          <a:prstGeom prst="rect">
            <a:avLst/>
          </a:prstGeom>
          <a:solidFill>
            <a:srgbClr val="AC9E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1" name="Text 20"/>
          <p:cNvSpPr txBox="1"/>
          <p:nvPr/>
        </p:nvSpPr>
        <p:spPr>
          <a:xfrm>
            <a:off x="4101143" y="6198311"/>
            <a:ext cx="3752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Year 2</a:t>
            </a:r>
          </a:p>
        </p:txBody>
      </p:sp>
      <p:sp>
        <p:nvSpPr>
          <p:cNvPr id="242" name="Text 21"/>
          <p:cNvSpPr txBox="1"/>
          <p:nvPr/>
        </p:nvSpPr>
        <p:spPr>
          <a:xfrm>
            <a:off x="4101143" y="6374226"/>
            <a:ext cx="294232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Expand distribution and improve partner economics.</a:t>
            </a:r>
          </a:p>
        </p:txBody>
      </p:sp>
      <p:sp>
        <p:nvSpPr>
          <p:cNvPr id="243" name="Text 22"/>
          <p:cNvSpPr txBox="1"/>
          <p:nvPr/>
        </p:nvSpPr>
        <p:spPr>
          <a:xfrm>
            <a:off x="7739801" y="5960682"/>
            <a:ext cx="15396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>
                <a:solidFill>
                  <a:srgbClr val="D6D9D7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</a:lstStyle>
          <a:p>
            <a:r>
              <a:t>03</a:t>
            </a:r>
          </a:p>
        </p:txBody>
      </p:sp>
      <p:sp>
        <p:nvSpPr>
          <p:cNvPr id="244" name="Shape 23"/>
          <p:cNvSpPr/>
          <p:nvPr/>
        </p:nvSpPr>
        <p:spPr>
          <a:xfrm>
            <a:off x="7739801" y="6125683"/>
            <a:ext cx="3591431" cy="12701"/>
          </a:xfrm>
          <a:prstGeom prst="rect">
            <a:avLst/>
          </a:prstGeom>
          <a:solidFill>
            <a:srgbClr val="AC9EF5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5" name="Text 24"/>
          <p:cNvSpPr txBox="1"/>
          <p:nvPr/>
        </p:nvSpPr>
        <p:spPr>
          <a:xfrm>
            <a:off x="7739801" y="6198311"/>
            <a:ext cx="3752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sz="1000">
                <a:solidFill>
                  <a:srgbClr val="D6D9D7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</a:lstStyle>
          <a:p>
            <a:r>
              <a:t>Year 3</a:t>
            </a:r>
          </a:p>
        </p:txBody>
      </p:sp>
      <p:sp>
        <p:nvSpPr>
          <p:cNvPr id="246" name="Text 25"/>
          <p:cNvSpPr txBox="1"/>
          <p:nvPr/>
        </p:nvSpPr>
        <p:spPr>
          <a:xfrm>
            <a:off x="7739801" y="6374226"/>
            <a:ext cx="35989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Compound revenue across the core stack and accelerate scale.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0AF1D04-2917-5FD7-74AC-C43B13AD837E}"/>
              </a:ext>
            </a:extLst>
          </p:cNvPr>
          <p:cNvSpPr/>
          <p:nvPr/>
        </p:nvSpPr>
        <p:spPr>
          <a:xfrm>
            <a:off x="661475" y="535880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Ask: USD 2M Seed Round</a:t>
            </a:r>
            <a:endParaRPr lang="en-US" sz="31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0AE42C2-2E6A-C07A-44EE-62F43D0C7586}"/>
              </a:ext>
            </a:extLst>
          </p:cNvPr>
          <p:cNvSpPr/>
          <p:nvPr/>
        </p:nvSpPr>
        <p:spPr>
          <a:xfrm>
            <a:off x="661475" y="1651397"/>
            <a:ext cx="5364624" cy="1772345"/>
          </a:xfrm>
          <a:prstGeom prst="roundRect">
            <a:avLst>
              <a:gd name="adj" fmla="val 1375"/>
            </a:avLst>
          </a:prstGeom>
          <a:solidFill>
            <a:srgbClr val="4C5052"/>
          </a:solidFill>
          <a:ln/>
        </p:spPr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925AAF4-C824-05CE-4097-E337254A7314}"/>
              </a:ext>
            </a:extLst>
          </p:cNvPr>
          <p:cNvSpPr/>
          <p:nvPr/>
        </p:nvSpPr>
        <p:spPr>
          <a:xfrm>
            <a:off x="823892" y="1813818"/>
            <a:ext cx="487251" cy="487263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C4F680A-F7AB-2FD4-420F-84A9425C6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7834" y="1947763"/>
            <a:ext cx="219268" cy="219273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68BC2E5D-4171-453A-25AE-CD96703D28E1}"/>
              </a:ext>
            </a:extLst>
          </p:cNvPr>
          <p:cNvSpPr/>
          <p:nvPr/>
        </p:nvSpPr>
        <p:spPr>
          <a:xfrm>
            <a:off x="823892" y="2440583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&amp; Engineering</a:t>
            </a:r>
            <a:endParaRPr lang="en-US" sz="15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5FD2034-7E69-53A1-81CC-008F04BAF463}"/>
              </a:ext>
            </a:extLst>
          </p:cNvPr>
          <p:cNvSpPr/>
          <p:nvPr/>
        </p:nvSpPr>
        <p:spPr>
          <a:xfrm>
            <a:off x="823892" y="2778125"/>
            <a:ext cx="5039790" cy="617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AI pipeline, Phase 2 gym marketplace build-out, and platform infrastructure.</a:t>
            </a:r>
            <a:endParaRPr lang="en-US" sz="12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2A58293-BE26-56AD-70AD-C5FA368BD01D}"/>
              </a:ext>
            </a:extLst>
          </p:cNvPr>
          <p:cNvSpPr/>
          <p:nvPr/>
        </p:nvSpPr>
        <p:spPr>
          <a:xfrm>
            <a:off x="6165597" y="1651397"/>
            <a:ext cx="5364624" cy="1772345"/>
          </a:xfrm>
          <a:prstGeom prst="roundRect">
            <a:avLst>
              <a:gd name="adj" fmla="val 1375"/>
            </a:avLst>
          </a:prstGeom>
          <a:solidFill>
            <a:srgbClr val="4C5052"/>
          </a:solidFill>
          <a:ln/>
        </p:spPr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D4FA04ED-B5DE-E286-0515-44E67E06B336}"/>
              </a:ext>
            </a:extLst>
          </p:cNvPr>
          <p:cNvSpPr/>
          <p:nvPr/>
        </p:nvSpPr>
        <p:spPr>
          <a:xfrm>
            <a:off x="6328014" y="1813818"/>
            <a:ext cx="487251" cy="487263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AC602677-91F3-A67E-0332-D7F68DBB9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1956" y="1947763"/>
            <a:ext cx="219268" cy="219273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E953B250-1019-236B-698D-81184535F5CC}"/>
              </a:ext>
            </a:extLst>
          </p:cNvPr>
          <p:cNvSpPr/>
          <p:nvPr/>
        </p:nvSpPr>
        <p:spPr>
          <a:xfrm>
            <a:off x="6328014" y="2440583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Growth &amp; Acquisition</a:t>
            </a:r>
            <a:endParaRPr lang="en-US" sz="15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AFDDE87-E010-F6C9-2D3F-D4A8E4B5C675}"/>
              </a:ext>
            </a:extLst>
          </p:cNvPr>
          <p:cNvSpPr/>
          <p:nvPr/>
        </p:nvSpPr>
        <p:spPr>
          <a:xfrm>
            <a:off x="6328014" y="2778125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and organic user acquisition targeting the 95% of gym-goers underserved by existing solutions.</a:t>
            </a:r>
            <a:endParaRPr lang="en-US" sz="12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132E09FF-2B30-E6ED-3AC1-1D691F7CEFB9}"/>
              </a:ext>
            </a:extLst>
          </p:cNvPr>
          <p:cNvSpPr/>
          <p:nvPr/>
        </p:nvSpPr>
        <p:spPr>
          <a:xfrm>
            <a:off x="661475" y="3563243"/>
            <a:ext cx="5364624" cy="1772345"/>
          </a:xfrm>
          <a:prstGeom prst="roundRect">
            <a:avLst>
              <a:gd name="adj" fmla="val 1375"/>
            </a:avLst>
          </a:prstGeom>
          <a:solidFill>
            <a:srgbClr val="4C5052"/>
          </a:solidFill>
          <a:ln/>
        </p:spPr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A2FF668-6404-D927-5486-CA600F27E445}"/>
              </a:ext>
            </a:extLst>
          </p:cNvPr>
          <p:cNvSpPr/>
          <p:nvPr/>
        </p:nvSpPr>
        <p:spPr>
          <a:xfrm>
            <a:off x="823892" y="3725664"/>
            <a:ext cx="487251" cy="487263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4A7D3EBB-3C07-9F3B-7D6C-D379176B65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834" y="3859609"/>
            <a:ext cx="219268" cy="219273"/>
          </a:xfrm>
          <a:prstGeom prst="rect">
            <a:avLst/>
          </a:prstGeom>
        </p:spPr>
      </p:pic>
      <p:sp>
        <p:nvSpPr>
          <p:cNvPr id="31" name="Text 12">
            <a:extLst>
              <a:ext uri="{FF2B5EF4-FFF2-40B4-BE49-F238E27FC236}">
                <a16:creationId xmlns:a16="http://schemas.microsoft.com/office/drawing/2014/main" id="{EFB9A0D5-9C67-70D5-E1A6-56C7056A6C1A}"/>
              </a:ext>
            </a:extLst>
          </p:cNvPr>
          <p:cNvSpPr/>
          <p:nvPr/>
        </p:nvSpPr>
        <p:spPr>
          <a:xfrm>
            <a:off x="823892" y="4352429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Gym Partner Network</a:t>
            </a:r>
            <a:endParaRPr lang="en-US" sz="155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1D99BD3-88F4-C3AC-AC6F-A4569CE6F66C}"/>
              </a:ext>
            </a:extLst>
          </p:cNvPr>
          <p:cNvSpPr/>
          <p:nvPr/>
        </p:nvSpPr>
        <p:spPr>
          <a:xfrm>
            <a:off x="823892" y="4689971"/>
            <a:ext cx="5119708" cy="59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 neighbourhood gyms onto the FIZI marketplace — converting 90% vacancy into booked revenue.</a:t>
            </a:r>
            <a:endParaRPr lang="en-US" sz="125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61302C63-33A7-1347-35EB-50573334F58C}"/>
              </a:ext>
            </a:extLst>
          </p:cNvPr>
          <p:cNvSpPr/>
          <p:nvPr/>
        </p:nvSpPr>
        <p:spPr>
          <a:xfrm>
            <a:off x="6165597" y="3563243"/>
            <a:ext cx="5364624" cy="1772345"/>
          </a:xfrm>
          <a:prstGeom prst="roundRect">
            <a:avLst>
              <a:gd name="adj" fmla="val 1375"/>
            </a:avLst>
          </a:prstGeom>
          <a:solidFill>
            <a:srgbClr val="4C5052"/>
          </a:solidFill>
          <a:ln/>
        </p:spPr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69B3097-0455-9C85-7050-AE26DC3BB1AC}"/>
              </a:ext>
            </a:extLst>
          </p:cNvPr>
          <p:cNvSpPr/>
          <p:nvPr/>
        </p:nvSpPr>
        <p:spPr>
          <a:xfrm>
            <a:off x="6328014" y="3725664"/>
            <a:ext cx="487251" cy="487263"/>
          </a:xfrm>
          <a:prstGeom prst="ellipse">
            <a:avLst/>
          </a:prstGeom>
          <a:solidFill>
            <a:srgbClr val="AC9EF5"/>
          </a:solidFill>
          <a:ln/>
        </p:spPr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8BBFA387-8BBA-F3A9-889A-1986749F4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1956" y="3859609"/>
            <a:ext cx="219268" cy="219273"/>
          </a:xfrm>
          <a:prstGeom prst="rect">
            <a:avLst/>
          </a:prstGeom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89C53956-E1BD-BE5B-CDBA-D219441BAEB8}"/>
              </a:ext>
            </a:extLst>
          </p:cNvPr>
          <p:cNvSpPr/>
          <p:nvPr/>
        </p:nvSpPr>
        <p:spPr>
          <a:xfrm>
            <a:off x="6328014" y="4352429"/>
            <a:ext cx="503979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Team Expansion</a:t>
            </a:r>
            <a:endParaRPr lang="en-US" sz="155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06299BAB-1D78-D931-BCC1-2AE431291A7F}"/>
              </a:ext>
            </a:extLst>
          </p:cNvPr>
          <p:cNvSpPr/>
          <p:nvPr/>
        </p:nvSpPr>
        <p:spPr>
          <a:xfrm>
            <a:off x="6328014" y="4689971"/>
            <a:ext cx="5039790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senior AI/ML engineers, growth leads, and city-level gym partnership managers across India.</a:t>
            </a:r>
            <a:endParaRPr lang="en-US" sz="125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05B3D643-F89F-97DF-B1C5-1F91BC837099}"/>
              </a:ext>
            </a:extLst>
          </p:cNvPr>
          <p:cNvSpPr/>
          <p:nvPr/>
        </p:nvSpPr>
        <p:spPr>
          <a:xfrm>
            <a:off x="661475" y="5492552"/>
            <a:ext cx="10868745" cy="829469"/>
          </a:xfrm>
          <a:prstGeom prst="roundRect">
            <a:avLst>
              <a:gd name="adj" fmla="val 2937"/>
            </a:avLst>
          </a:prstGeom>
          <a:solidFill>
            <a:srgbClr val="1D0C74"/>
          </a:solidFill>
          <a:ln/>
        </p:spPr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77FF669-29C6-0E26-8029-FAF6FBF75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92" y="5695553"/>
            <a:ext cx="202996" cy="162421"/>
          </a:xfrm>
          <a:prstGeom prst="rect">
            <a:avLst/>
          </a:prstGeom>
        </p:spPr>
      </p:pic>
      <p:sp>
        <p:nvSpPr>
          <p:cNvPr id="49" name="Text 19">
            <a:extLst>
              <a:ext uri="{FF2B5EF4-FFF2-40B4-BE49-F238E27FC236}">
                <a16:creationId xmlns:a16="http://schemas.microsoft.com/office/drawing/2014/main" id="{C1ED8ECF-F5A3-6C84-4D18-28E3A182B51A}"/>
              </a:ext>
            </a:extLst>
          </p:cNvPr>
          <p:cNvSpPr/>
          <p:nvPr/>
        </p:nvSpPr>
        <p:spPr>
          <a:xfrm>
            <a:off x="1189305" y="5672634"/>
            <a:ext cx="10178498" cy="539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FIZI's mission:</a:t>
            </a: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Make elite coaching accessible to every gym-goer in India — and eventually, the world. Join us in building the infrastructure layer for the future of fitness.</a:t>
            </a:r>
            <a:endParaRPr lang="en-US" sz="1250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1469</Words>
  <Application>Microsoft Office PowerPoint</Application>
  <PresentationFormat>Widescreen</PresentationFormat>
  <Paragraphs>173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DM Sans Medium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Mahesh</dc:creator>
  <cp:lastModifiedBy>Mahesh Challa</cp:lastModifiedBy>
  <cp:revision>6</cp:revision>
  <dcterms:modified xsi:type="dcterms:W3CDTF">2026-09-08T14:47:52Z</dcterms:modified>
</cp:coreProperties>
</file>